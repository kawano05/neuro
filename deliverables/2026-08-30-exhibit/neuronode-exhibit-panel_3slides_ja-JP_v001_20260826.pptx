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展示パネル 1/3: ニューロノードの概要。
製品情報の出典（2026-08-26 閲覧）:
- Control Bionics, NeuroNode 製品ページ https://controlbionics.com/neuronode/
- Control Bionics, Products &amp; Devices https://controlbionics.com/products-and-devices/
- Nordic Semiconductor ニュース（BLE 接続の EMG センサー） https://www.nordicsemi.com/Nordic-news/2018/07/nrf52832-soc-provides-wireless-connectivity-for-control-bionics
本パネルは第三者製品の説明であり、Control Bionics 社の公式資料ではありません。製品写真・ロゴは使用していません。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展示パネル 2/3: 訓練アプリの目的。
根拠: README.md（目的・画面フロー）、docs/research-summary.md（研究目的・評価軸）、basic-design.md（Switch Control / Guided Access 前提）。
記録は評価の材料であり、診断結果ではありません（README の方針に従う）。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展示パネル 3/3: 訓練アプリの内容。
画面は 2026-08-20 にローカルビルドから撮影したもの（_deck_build/product-overview/client-slot-v2-work/captures）。
課題名・説明は src/lib/content.js の利用者向け表記に合わせた。
「そくてい」「れんしゅう」の条件は README.md の難易度モード表に基づく。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2296" cy="822960"/>
          </a:xfrm>
          <a:prstGeom prst="rect">
            <a:avLst/>
          </a:prstGeom>
          <a:solidFill>
            <a:srgbClr val="E8A33D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spc="200" kern="0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 ｜ ニューロノードとは</a:t>
            </a:r>
            <a:endParaRPr lang="ja-JP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1185855" cy="10973"/>
          </a:xfrm>
          <a:prstGeom prst="rect">
            <a:avLst/>
          </a:prstGeom>
          <a:solidFill>
            <a:srgbClr val="B8BFBD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NEURONODE 訓練アプリ ｜ 展示パネル 2026.08.30　｜　製品: Control Bionics 社（米国）NeuroNode</a:t>
            </a:r>
            <a:endParaRPr lang="ja-JP" sz="900" dirty="0"/>
          </a:p>
        </p:txBody>
      </p:sp>
      <p:sp>
        <p:nvSpPr>
          <p:cNvPr id="6" name="Text 4"/>
          <p:cNvSpPr/>
          <p:nvPr/>
        </p:nvSpPr>
        <p:spPr>
          <a:xfrm>
            <a:off x="1059149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 / 3</a:t>
            </a:r>
            <a:endParaRPr lang="ja-JP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85800"/>
            <a:ext cx="10957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8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ニューロノード（NeuroNode）とは</a:t>
            </a:r>
            <a:endParaRPr lang="ja-JP" sz="38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10957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筋肉の電気信号（筋電）を読み取って iPad などを操作できる、からだに着ける「スイッチ」です。</a:t>
            </a:r>
            <a:endParaRPr lang="ja-JP" sz="1600" dirty="0"/>
          </a:p>
        </p:txBody>
      </p:sp>
      <p:sp>
        <p:nvSpPr>
          <p:cNvPr id="9" name="Shape 7"/>
          <p:cNvSpPr/>
          <p:nvPr/>
        </p:nvSpPr>
        <p:spPr>
          <a:xfrm>
            <a:off x="502920" y="214884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E4F0EF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3134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100" b="1" dirty="0">
                <a:solidFill>
                  <a:srgbClr val="0F4F4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からだ</a:t>
            </a:r>
            <a:endParaRPr lang="ja-JP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2743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5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筋肉の上に、小さな無線センサーを</a:t>
            </a:r>
            <a:endParaRPr lang="ja-JP" sz="12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125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バンドで着けるだけ</a:t>
            </a:r>
            <a:endParaRPr lang="ja-JP" sz="1250" dirty="0"/>
          </a:p>
        </p:txBody>
      </p:sp>
      <p:sp>
        <p:nvSpPr>
          <p:cNvPr id="12" name="Shape 10"/>
          <p:cNvSpPr/>
          <p:nvPr/>
        </p:nvSpPr>
        <p:spPr>
          <a:xfrm>
            <a:off x="3904488" y="2857500"/>
            <a:ext cx="420624" cy="0"/>
          </a:xfrm>
          <a:prstGeom prst="line">
            <a:avLst/>
          </a:prstGeom>
          <a:noFill/>
          <a:ln w="28575">
            <a:solidFill>
              <a:srgbClr val="1C7774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434840" y="214884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1C7774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3134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1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NeuroNode</a:t>
            </a:r>
            <a:endParaRPr lang="ja-JP" sz="2100" dirty="0"/>
          </a:p>
        </p:txBody>
      </p:sp>
      <p:sp>
        <p:nvSpPr>
          <p:cNvPr id="15" name="Text 13"/>
          <p:cNvSpPr/>
          <p:nvPr/>
        </p:nvSpPr>
        <p:spPr>
          <a:xfrm>
            <a:off x="4663440" y="2743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「動かそう」とした時の筋電（EMG）や</a:t>
            </a:r>
            <a:endParaRPr lang="ja-JP" sz="12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1250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わずかな動きを検出して、無線で送る</a:t>
            </a:r>
            <a:endParaRPr lang="ja-JP" sz="1250" dirty="0"/>
          </a:p>
        </p:txBody>
      </p:sp>
      <p:sp>
        <p:nvSpPr>
          <p:cNvPr id="16" name="Shape 14"/>
          <p:cNvSpPr/>
          <p:nvPr/>
        </p:nvSpPr>
        <p:spPr>
          <a:xfrm>
            <a:off x="7836408" y="2857500"/>
            <a:ext cx="420624" cy="0"/>
          </a:xfrm>
          <a:prstGeom prst="line">
            <a:avLst/>
          </a:prstGeom>
          <a:noFill/>
          <a:ln w="28575">
            <a:solidFill>
              <a:srgbClr val="1C7774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366760" y="2148840"/>
            <a:ext cx="3291840" cy="1417320"/>
          </a:xfrm>
          <a:prstGeom prst="roundRect">
            <a:avLst>
              <a:gd name="adj" fmla="val 7742"/>
            </a:avLst>
          </a:prstGeom>
          <a:solidFill>
            <a:srgbClr val="E4F0EF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95360" y="2313432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100" b="1" dirty="0">
                <a:solidFill>
                  <a:srgbClr val="0F4F4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iPad・パソコン</a:t>
            </a:r>
            <a:endParaRPr lang="ja-JP" sz="2100" dirty="0"/>
          </a:p>
        </p:txBody>
      </p:sp>
      <p:sp>
        <p:nvSpPr>
          <p:cNvPr id="19" name="Text 17"/>
          <p:cNvSpPr/>
          <p:nvPr/>
        </p:nvSpPr>
        <p:spPr>
          <a:xfrm>
            <a:off x="8595360" y="274320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5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「1回の入力」として届く</a:t>
            </a:r>
            <a:endParaRPr lang="ja-JP" sz="12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125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iPad の Switch Control などで使う</a:t>
            </a:r>
            <a:endParaRPr lang="ja-JP" sz="1250" dirty="0"/>
          </a:p>
        </p:txBody>
      </p:sp>
      <p:sp>
        <p:nvSpPr>
          <p:cNvPr id="20" name="Shape 18"/>
          <p:cNvSpPr/>
          <p:nvPr/>
        </p:nvSpPr>
        <p:spPr>
          <a:xfrm>
            <a:off x="502920" y="3840480"/>
            <a:ext cx="3566160" cy="18288"/>
          </a:xfrm>
          <a:prstGeom prst="rect">
            <a:avLst/>
          </a:prstGeom>
          <a:solidFill>
            <a:srgbClr val="B8BFBD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9502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E8A3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ja-JP" sz="2000" dirty="0"/>
          </a:p>
        </p:txBody>
      </p:sp>
      <p:sp>
        <p:nvSpPr>
          <p:cNvPr id="22" name="Text 20"/>
          <p:cNvSpPr/>
          <p:nvPr/>
        </p:nvSpPr>
        <p:spPr>
          <a:xfrm>
            <a:off x="1051560" y="3950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7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見える動きがなくても</a:t>
            </a:r>
            <a:endParaRPr lang="ja-JP" sz="1700" dirty="0"/>
          </a:p>
        </p:txBody>
      </p:sp>
      <p:sp>
        <p:nvSpPr>
          <p:cNvPr id="23" name="Text 21"/>
          <p:cNvSpPr/>
          <p:nvPr/>
        </p:nvSpPr>
        <p:spPr>
          <a:xfrm>
            <a:off x="502920" y="4389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25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筋肉を動かそうとした時に生じる、ごく小さな電気信号を読み取ります。動きが小さくても、はっきり見えなくても、それが「入力」になります。</a:t>
            </a:r>
            <a:endParaRPr lang="ja-JP" sz="1250" dirty="0"/>
          </a:p>
        </p:txBody>
      </p:sp>
      <p:sp>
        <p:nvSpPr>
          <p:cNvPr id="24" name="Shape 22"/>
          <p:cNvSpPr/>
          <p:nvPr/>
        </p:nvSpPr>
        <p:spPr>
          <a:xfrm>
            <a:off x="4297680" y="3840480"/>
            <a:ext cx="3566160" cy="18288"/>
          </a:xfrm>
          <a:prstGeom prst="rect">
            <a:avLst/>
          </a:prstGeom>
          <a:solidFill>
            <a:srgbClr val="B8BFBD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0" y="39502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E8A3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ja-JP" sz="2000" dirty="0"/>
          </a:p>
        </p:txBody>
      </p:sp>
      <p:sp>
        <p:nvSpPr>
          <p:cNvPr id="26" name="Text 24"/>
          <p:cNvSpPr/>
          <p:nvPr/>
        </p:nvSpPr>
        <p:spPr>
          <a:xfrm>
            <a:off x="4846320" y="3950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7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貼るだけ、配線なし</a:t>
            </a:r>
            <a:endParaRPr lang="ja-JP" sz="1700" dirty="0"/>
          </a:p>
        </p:txBody>
      </p:sp>
      <p:sp>
        <p:nvSpPr>
          <p:cNvPr id="27" name="Text 25"/>
          <p:cNvSpPr/>
          <p:nvPr/>
        </p:nvSpPr>
        <p:spPr>
          <a:xfrm>
            <a:off x="4297680" y="4389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25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手術やケーブルは不要。センサーはからだのどこにでも着けられ、姿勢や部屋の明るさに左右されにくいのが特長です。</a:t>
            </a:r>
            <a:endParaRPr lang="ja-JP" sz="1250" dirty="0"/>
          </a:p>
        </p:txBody>
      </p:sp>
      <p:sp>
        <p:nvSpPr>
          <p:cNvPr id="28" name="Shape 26"/>
          <p:cNvSpPr/>
          <p:nvPr/>
        </p:nvSpPr>
        <p:spPr>
          <a:xfrm>
            <a:off x="8092440" y="3840480"/>
            <a:ext cx="3566160" cy="18288"/>
          </a:xfrm>
          <a:prstGeom prst="rect">
            <a:avLst/>
          </a:prstGeom>
          <a:solidFill>
            <a:srgbClr val="B8BFBD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092440" y="395020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E8A3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ja-JP" sz="2000" dirty="0"/>
          </a:p>
        </p:txBody>
      </p:sp>
      <p:sp>
        <p:nvSpPr>
          <p:cNvPr id="30" name="Text 28"/>
          <p:cNvSpPr/>
          <p:nvPr/>
        </p:nvSpPr>
        <p:spPr>
          <a:xfrm>
            <a:off x="8641080" y="3950208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7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1つの入力で機器を操作</a:t>
            </a:r>
            <a:endParaRPr lang="ja-JP" sz="1700" dirty="0"/>
          </a:p>
        </p:txBody>
      </p:sp>
      <p:sp>
        <p:nvSpPr>
          <p:cNvPr id="31" name="Text 29"/>
          <p:cNvSpPr/>
          <p:nvPr/>
        </p:nvSpPr>
        <p:spPr>
          <a:xfrm>
            <a:off x="8092440" y="4389120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25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iPad・パソコン・スマートフォンと無線でつながります。iPad の Switch Control と組み合わせれば、順番に光る項目を押して選べます。</a:t>
            </a:r>
            <a:endParaRPr lang="ja-JP" sz="1250" dirty="0"/>
          </a:p>
        </p:txBody>
      </p:sp>
      <p:sp>
        <p:nvSpPr>
          <p:cNvPr id="32" name="Shape 30"/>
          <p:cNvSpPr/>
          <p:nvPr/>
        </p:nvSpPr>
        <p:spPr>
          <a:xfrm>
            <a:off x="502920" y="5669280"/>
            <a:ext cx="64008" cy="548640"/>
          </a:xfrm>
          <a:prstGeom prst="rect">
            <a:avLst/>
          </a:prstGeom>
          <a:solidFill>
            <a:srgbClr val="1C7774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5669280"/>
            <a:ext cx="109572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250" b="1" dirty="0">
                <a:solidFill>
                  <a:srgbClr val="0F4F4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対象となる方　</a:t>
            </a:r>
            <a:pPr indent="0" marL="0">
              <a:lnSpc>
                <a:spcPct val="115000"/>
              </a:lnSpc>
              <a:buNone/>
            </a:pPr>
            <a:r>
              <a:rPr lang="ja-JP" altLang="en-US" sz="125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ALS などの神経難病、脊髄損傷、脳性まひ など、からだを動かしにくい方や発話が難しい方。意思を伝える手段（AAC）や、機器を操作する手段として使われています。</a:t>
            </a:r>
            <a:endParaRPr lang="ja-JP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2296" cy="822960"/>
          </a:xfrm>
          <a:prstGeom prst="rect">
            <a:avLst/>
          </a:prstGeom>
          <a:solidFill>
            <a:srgbClr val="E8A33D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spc="200" kern="0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 ｜ 訓練アプリの目的</a:t>
            </a:r>
            <a:endParaRPr lang="ja-JP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1185855" cy="10973"/>
          </a:xfrm>
          <a:prstGeom prst="rect">
            <a:avLst/>
          </a:prstGeom>
          <a:solidFill>
            <a:srgbClr val="B8BFBD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NEURONODE 訓練アプリ ｜ 展示パネル 2026.08.30</a:t>
            </a:r>
            <a:endParaRPr lang="ja-JP" sz="900" dirty="0"/>
          </a:p>
        </p:txBody>
      </p:sp>
      <p:sp>
        <p:nvSpPr>
          <p:cNvPr id="6" name="Text 4"/>
          <p:cNvSpPr/>
          <p:nvPr/>
        </p:nvSpPr>
        <p:spPr>
          <a:xfrm>
            <a:off x="1059149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 / 3</a:t>
            </a:r>
            <a:endParaRPr lang="ja-JP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85800"/>
            <a:ext cx="10957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6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ニューロノードの「使いはじめ」を支える</a:t>
            </a:r>
            <a:endParaRPr lang="ja-JP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10957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使い始める方が支援者と一緒に「1回の入力」に慣れ、上達を数字で確かめるための iPad アプリです。</a:t>
            </a:r>
            <a:endParaRPr lang="ja-JP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2103120"/>
            <a:ext cx="4160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spc="100" kern="0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なぜ必要か</a:t>
            </a:r>
            <a:endParaRPr lang="ja-JP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468880"/>
            <a:ext cx="4160520" cy="18288"/>
          </a:xfrm>
          <a:prstGeom prst="rect">
            <a:avLst/>
          </a:prstGeom>
          <a:solidFill>
            <a:srgbClr val="B8BFBD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" y="267919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0604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25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入力は「1つ」だけ。「押す」と「画面が変わる」の対応を、まず遊びながら体で覚える必要があります。</a:t>
            </a:r>
            <a:endParaRPr lang="ja-JP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345643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338328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25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押すのが早いのか、遅いのか、ばらつきがあるのか——支援者が目で見て判断するのは難しい。</a:t>
            </a:r>
            <a:endParaRPr lang="ja-JP" sz="1250" dirty="0"/>
          </a:p>
        </p:txBody>
      </p:sp>
      <p:sp>
        <p:nvSpPr>
          <p:cNvPr id="15" name="Shape 13"/>
          <p:cNvSpPr/>
          <p:nvPr/>
        </p:nvSpPr>
        <p:spPr>
          <a:xfrm>
            <a:off x="502920" y="4233672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8A33D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160520"/>
            <a:ext cx="3886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25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市販のゲームや教材は、項目が順番に光る「走査」と 1 入力の操作を前提に作られていません。</a:t>
            </a:r>
            <a:endParaRPr lang="ja-JP" sz="1250" dirty="0"/>
          </a:p>
        </p:txBody>
      </p:sp>
      <p:sp>
        <p:nvSpPr>
          <p:cNvPr id="17" name="Text 15"/>
          <p:cNvSpPr/>
          <p:nvPr/>
        </p:nvSpPr>
        <p:spPr>
          <a:xfrm>
            <a:off x="5212080" y="2103120"/>
            <a:ext cx="6476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spc="100" kern="0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アプリがめざすこと</a:t>
            </a:r>
            <a:endParaRPr lang="ja-JP" sz="1300" dirty="0"/>
          </a:p>
        </p:txBody>
      </p:sp>
      <p:sp>
        <p:nvSpPr>
          <p:cNvPr id="18" name="Shape 16"/>
          <p:cNvSpPr/>
          <p:nvPr/>
        </p:nvSpPr>
        <p:spPr>
          <a:xfrm>
            <a:off x="5212080" y="2468880"/>
            <a:ext cx="6476695" cy="18288"/>
          </a:xfrm>
          <a:prstGeom prst="rect">
            <a:avLst/>
          </a:prstGeom>
          <a:solidFill>
            <a:srgbClr val="B8BFBD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0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E8A3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01</a:t>
            </a:r>
            <a:endParaRPr lang="ja-JP" sz="2000" dirty="0"/>
          </a:p>
        </p:txBody>
      </p:sp>
      <p:sp>
        <p:nvSpPr>
          <p:cNvPr id="20" name="Text 18"/>
          <p:cNvSpPr/>
          <p:nvPr/>
        </p:nvSpPr>
        <p:spPr>
          <a:xfrm>
            <a:off x="5760720" y="2606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なれる</a:t>
            </a:r>
            <a:endParaRPr lang="ja-JP" sz="1900" dirty="0"/>
          </a:p>
        </p:txBody>
      </p:sp>
      <p:sp>
        <p:nvSpPr>
          <p:cNvPr id="21" name="Text 19"/>
          <p:cNvSpPr/>
          <p:nvPr/>
        </p:nvSpPr>
        <p:spPr>
          <a:xfrm>
            <a:off x="7223760" y="2624328"/>
            <a:ext cx="4465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25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1回の入力＝1つの反応。課題中は画面全体がスイッチになるので、どこを押しても、どの筋肉で押しても「押した」が伝わります。</a:t>
            </a:r>
            <a:endParaRPr lang="ja-JP" sz="1250" dirty="0"/>
          </a:p>
        </p:txBody>
      </p:sp>
      <p:sp>
        <p:nvSpPr>
          <p:cNvPr id="22" name="Text 20"/>
          <p:cNvSpPr/>
          <p:nvPr/>
        </p:nvSpPr>
        <p:spPr>
          <a:xfrm>
            <a:off x="5212080" y="33832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E8A3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02</a:t>
            </a:r>
            <a:endParaRPr lang="ja-JP" sz="2000" dirty="0"/>
          </a:p>
        </p:txBody>
      </p:sp>
      <p:sp>
        <p:nvSpPr>
          <p:cNvPr id="23" name="Text 21"/>
          <p:cNvSpPr/>
          <p:nvPr/>
        </p:nvSpPr>
        <p:spPr>
          <a:xfrm>
            <a:off x="5760720" y="33832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はかる</a:t>
            </a:r>
            <a:endParaRPr lang="ja-JP" sz="1900" dirty="0"/>
          </a:p>
        </p:txBody>
      </p:sp>
      <p:sp>
        <p:nvSpPr>
          <p:cNvPr id="24" name="Text 22"/>
          <p:cNvSpPr/>
          <p:nvPr/>
        </p:nvSpPr>
        <p:spPr>
          <a:xfrm>
            <a:off x="7223760" y="3401568"/>
            <a:ext cx="4465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25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動く絵を止めるタイミングのずれ（早い／遅い／ばらつき）を毎回記録。同じ条件で、訓練の前後や設定の違いを比べられます。</a:t>
            </a:r>
            <a:endParaRPr lang="ja-JP" sz="1250" dirty="0"/>
          </a:p>
        </p:txBody>
      </p:sp>
      <p:sp>
        <p:nvSpPr>
          <p:cNvPr id="25" name="Text 23"/>
          <p:cNvSpPr/>
          <p:nvPr/>
        </p:nvSpPr>
        <p:spPr>
          <a:xfrm>
            <a:off x="5212080" y="41605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000" b="1" dirty="0">
                <a:solidFill>
                  <a:srgbClr val="E8A3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</a:t>
            </a:r>
            <a:endParaRPr lang="ja-JP" sz="2000" dirty="0"/>
          </a:p>
        </p:txBody>
      </p:sp>
      <p:sp>
        <p:nvSpPr>
          <p:cNvPr id="26" name="Text 24"/>
          <p:cNvSpPr/>
          <p:nvPr/>
        </p:nvSpPr>
        <p:spPr>
          <a:xfrm>
            <a:off x="5760720" y="41605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9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つなげる</a:t>
            </a:r>
            <a:endParaRPr lang="ja-JP" sz="1900" dirty="0"/>
          </a:p>
        </p:txBody>
      </p:sp>
      <p:sp>
        <p:nvSpPr>
          <p:cNvPr id="27" name="Text 25"/>
          <p:cNvSpPr/>
          <p:nvPr/>
        </p:nvSpPr>
        <p:spPr>
          <a:xfrm>
            <a:off x="7223760" y="4178808"/>
            <a:ext cx="44650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ja-JP" altLang="en-US" sz="125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順番に光る項目を「押して選ぶ」、マッチング・VOCA・文字学習で「伝える」へ。日常のコミュニケーション手段につなぎます。</a:t>
            </a:r>
            <a:endParaRPr lang="ja-JP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48463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spc="100" kern="0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訓練の段階</a:t>
            </a:r>
            <a:endParaRPr lang="ja-JP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5193792"/>
            <a:ext cx="2514600" cy="777240"/>
          </a:xfrm>
          <a:prstGeom prst="roundRect">
            <a:avLst>
              <a:gd name="adj" fmla="val 14118"/>
            </a:avLst>
          </a:prstGeom>
          <a:solidFill>
            <a:srgbClr val="E4F0EF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5800" y="52669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L0</a:t>
            </a:r>
            <a:endParaRPr lang="ja-JP" sz="2200" dirty="0"/>
          </a:p>
        </p:txBody>
      </p:sp>
      <p:sp>
        <p:nvSpPr>
          <p:cNvPr id="31" name="Text 29"/>
          <p:cNvSpPr/>
          <p:nvPr/>
        </p:nvSpPr>
        <p:spPr>
          <a:xfrm>
            <a:off x="1325880" y="526694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反応を確かめる</a:t>
            </a:r>
            <a:endParaRPr lang="ja-JP" sz="1500" dirty="0"/>
          </a:p>
        </p:txBody>
      </p:sp>
      <p:sp>
        <p:nvSpPr>
          <p:cNvPr id="32" name="Text 30"/>
          <p:cNvSpPr/>
          <p:nvPr/>
        </p:nvSpPr>
        <p:spPr>
          <a:xfrm>
            <a:off x="1325880" y="561441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いろと おと</a:t>
            </a:r>
            <a:endParaRPr lang="ja-JP" sz="1100" dirty="0"/>
          </a:p>
        </p:txBody>
      </p:sp>
      <p:sp>
        <p:nvSpPr>
          <p:cNvPr id="33" name="Shape 31"/>
          <p:cNvSpPr/>
          <p:nvPr/>
        </p:nvSpPr>
        <p:spPr>
          <a:xfrm>
            <a:off x="3072384" y="5582412"/>
            <a:ext cx="256032" cy="0"/>
          </a:xfrm>
          <a:prstGeom prst="line">
            <a:avLst/>
          </a:prstGeom>
          <a:noFill/>
          <a:ln w="28575">
            <a:solidFill>
              <a:srgbClr val="1C7774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3383280" y="5193792"/>
            <a:ext cx="2514600" cy="777240"/>
          </a:xfrm>
          <a:prstGeom prst="roundRect">
            <a:avLst>
              <a:gd name="adj" fmla="val 14118"/>
            </a:avLst>
          </a:prstGeom>
          <a:solidFill>
            <a:srgbClr val="E4F0EF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566160" y="52669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L1</a:t>
            </a:r>
            <a:endParaRPr lang="ja-JP" sz="2200" dirty="0"/>
          </a:p>
        </p:txBody>
      </p:sp>
      <p:sp>
        <p:nvSpPr>
          <p:cNvPr id="36" name="Text 34"/>
          <p:cNvSpPr/>
          <p:nvPr/>
        </p:nvSpPr>
        <p:spPr>
          <a:xfrm>
            <a:off x="4206240" y="526694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タイミング</a:t>
            </a:r>
            <a:endParaRPr lang="ja-JP" sz="1500" dirty="0"/>
          </a:p>
        </p:txBody>
      </p:sp>
      <p:sp>
        <p:nvSpPr>
          <p:cNvPr id="37" name="Text 35"/>
          <p:cNvSpPr/>
          <p:nvPr/>
        </p:nvSpPr>
        <p:spPr>
          <a:xfrm>
            <a:off x="4206240" y="561441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ひとつ とめる</a:t>
            </a:r>
            <a:endParaRPr lang="ja-JP" sz="1100" dirty="0"/>
          </a:p>
        </p:txBody>
      </p:sp>
      <p:sp>
        <p:nvSpPr>
          <p:cNvPr id="38" name="Shape 36"/>
          <p:cNvSpPr/>
          <p:nvPr/>
        </p:nvSpPr>
        <p:spPr>
          <a:xfrm>
            <a:off x="5952744" y="5582412"/>
            <a:ext cx="256032" cy="0"/>
          </a:xfrm>
          <a:prstGeom prst="line">
            <a:avLst/>
          </a:prstGeom>
          <a:noFill/>
          <a:ln w="28575">
            <a:solidFill>
              <a:srgbClr val="1C7774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263640" y="5193792"/>
            <a:ext cx="2514600" cy="777240"/>
          </a:xfrm>
          <a:prstGeom prst="roundRect">
            <a:avLst>
              <a:gd name="adj" fmla="val 14118"/>
            </a:avLst>
          </a:prstGeom>
          <a:solidFill>
            <a:srgbClr val="E4F0EF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52669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L2</a:t>
            </a:r>
            <a:endParaRPr lang="ja-JP" sz="2200" dirty="0"/>
          </a:p>
        </p:txBody>
      </p:sp>
      <p:sp>
        <p:nvSpPr>
          <p:cNvPr id="41" name="Text 39"/>
          <p:cNvSpPr/>
          <p:nvPr/>
        </p:nvSpPr>
        <p:spPr>
          <a:xfrm>
            <a:off x="7086600" y="526694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順番に入力</a:t>
            </a:r>
            <a:endParaRPr lang="ja-JP" sz="1500" dirty="0"/>
          </a:p>
        </p:txBody>
      </p:sp>
      <p:sp>
        <p:nvSpPr>
          <p:cNvPr id="42" name="Text 40"/>
          <p:cNvSpPr/>
          <p:nvPr/>
        </p:nvSpPr>
        <p:spPr>
          <a:xfrm>
            <a:off x="7086600" y="561441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3つ とめる</a:t>
            </a:r>
            <a:endParaRPr lang="ja-JP" sz="1100" dirty="0"/>
          </a:p>
        </p:txBody>
      </p:sp>
      <p:sp>
        <p:nvSpPr>
          <p:cNvPr id="43" name="Shape 41"/>
          <p:cNvSpPr/>
          <p:nvPr/>
        </p:nvSpPr>
        <p:spPr>
          <a:xfrm>
            <a:off x="8833104" y="5582412"/>
            <a:ext cx="256032" cy="0"/>
          </a:xfrm>
          <a:prstGeom prst="line">
            <a:avLst/>
          </a:prstGeom>
          <a:noFill/>
          <a:ln w="28575">
            <a:solidFill>
              <a:srgbClr val="1C7774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9144000" y="5193792"/>
            <a:ext cx="2514600" cy="777240"/>
          </a:xfrm>
          <a:prstGeom prst="roundRect">
            <a:avLst>
              <a:gd name="adj" fmla="val 14118"/>
            </a:avLst>
          </a:prstGeom>
          <a:solidFill>
            <a:srgbClr val="FBF1DF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26880" y="526694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2200" b="1" dirty="0">
                <a:solidFill>
                  <a:srgbClr val="E8A33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</a:t>
            </a:r>
            <a:endParaRPr lang="ja-JP" sz="2200" dirty="0"/>
          </a:p>
        </p:txBody>
      </p:sp>
      <p:sp>
        <p:nvSpPr>
          <p:cNvPr id="46" name="Text 44"/>
          <p:cNvSpPr/>
          <p:nvPr/>
        </p:nvSpPr>
        <p:spPr>
          <a:xfrm>
            <a:off x="9966960" y="5266944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5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選ぶ・伝える</a:t>
            </a:r>
            <a:endParaRPr lang="ja-JP" sz="1500" dirty="0"/>
          </a:p>
        </p:txBody>
      </p:sp>
      <p:sp>
        <p:nvSpPr>
          <p:cNvPr id="47" name="Text 45"/>
          <p:cNvSpPr/>
          <p:nvPr/>
        </p:nvSpPr>
        <p:spPr>
          <a:xfrm>
            <a:off x="9966960" y="5614416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マッチング・VOCA・文字</a:t>
            </a:r>
            <a:endParaRPr lang="ja-JP" sz="1100" dirty="0"/>
          </a:p>
        </p:txBody>
      </p:sp>
      <p:sp>
        <p:nvSpPr>
          <p:cNvPr id="48" name="Text 46"/>
          <p:cNvSpPr/>
          <p:nvPr/>
        </p:nvSpPr>
        <p:spPr>
          <a:xfrm>
            <a:off x="502920" y="5989320"/>
            <a:ext cx="111858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10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利用者の画面と支援者の画面を分け、iPad の Switch Control・アクセスガイド（Guided Access）と一緒に使う前提で設計しています。</a:t>
            </a:r>
            <a:endParaRPr lang="ja-JP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82296" cy="822960"/>
          </a:xfrm>
          <a:prstGeom prst="rect">
            <a:avLst/>
          </a:prstGeom>
          <a:solidFill>
            <a:srgbClr val="E8A33D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spc="200" kern="0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03 ｜ 訓練アプリの内容</a:t>
            </a:r>
            <a:endParaRPr lang="ja-JP" sz="1200" dirty="0"/>
          </a:p>
        </p:txBody>
      </p:sp>
      <p:sp>
        <p:nvSpPr>
          <p:cNvPr id="4" name="Shape 2"/>
          <p:cNvSpPr/>
          <p:nvPr/>
        </p:nvSpPr>
        <p:spPr>
          <a:xfrm>
            <a:off x="502920" y="6382512"/>
            <a:ext cx="11185855" cy="10973"/>
          </a:xfrm>
          <a:prstGeom prst="rect">
            <a:avLst/>
          </a:prstGeom>
          <a:solidFill>
            <a:srgbClr val="B8BFBD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644652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NEURONODE 訓練アプリ ｜ 展示パネル 2026.08.30</a:t>
            </a:r>
            <a:endParaRPr lang="ja-JP" sz="900" dirty="0"/>
          </a:p>
        </p:txBody>
      </p:sp>
      <p:sp>
        <p:nvSpPr>
          <p:cNvPr id="6" name="Text 4"/>
          <p:cNvSpPr/>
          <p:nvPr/>
        </p:nvSpPr>
        <p:spPr>
          <a:xfrm>
            <a:off x="10591495" y="64465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ja-JP" altLang="en-US" sz="90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 / 3</a:t>
            </a:r>
            <a:endParaRPr lang="ja-JP" sz="900" dirty="0"/>
          </a:p>
        </p:txBody>
      </p:sp>
      <p:sp>
        <p:nvSpPr>
          <p:cNvPr id="7" name="Text 5"/>
          <p:cNvSpPr/>
          <p:nvPr/>
        </p:nvSpPr>
        <p:spPr>
          <a:xfrm>
            <a:off x="731520" y="685800"/>
            <a:ext cx="1095725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36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画面全体が、ひとつのスイッチ</a:t>
            </a:r>
            <a:endParaRPr lang="ja-JP" sz="3600" dirty="0"/>
          </a:p>
        </p:txBody>
      </p:sp>
      <p:sp>
        <p:nvSpPr>
          <p:cNvPr id="8" name="Text 6"/>
          <p:cNvSpPr/>
          <p:nvPr/>
        </p:nvSpPr>
        <p:spPr>
          <a:xfrm>
            <a:off x="731520" y="1417320"/>
            <a:ext cx="109572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60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ホームでは項目が順番に光り、押すと決定。課題中は画面のどこを押しても入力になります。</a:t>
            </a:r>
            <a:endParaRPr lang="ja-JP" sz="1600" dirty="0"/>
          </a:p>
        </p:txBody>
      </p:sp>
      <p:pic>
        <p:nvPicPr>
          <p:cNvPr id="9" name="Image 0" descr="C:\Users\otyag\Documents\NURO\_deck_build\product-overview\client-slot-v2-work\captures\game-slo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965960"/>
            <a:ext cx="5212080" cy="2931795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02920" y="1965960"/>
            <a:ext cx="5212080" cy="2931795"/>
          </a:xfrm>
          <a:prstGeom prst="rect">
            <a:avLst/>
          </a:prstGeom>
          <a:ln w="9525">
            <a:solidFill>
              <a:srgbClr val="B8BFB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4943475"/>
            <a:ext cx="5212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b="1" dirty="0">
                <a:solidFill>
                  <a:srgbClr val="0F4F4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リールを 止める　</a:t>
            </a:r>
            <a:pPr indent="0" marL="0">
              <a:buNone/>
            </a:pPr>
            <a:r>
              <a:rPr lang="ja-JP" altLang="en-US" sz="105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動く絵が真ん中に来たら押す。3本は左から順に止め、ずれを記録</a:t>
            </a:r>
            <a:endParaRPr lang="ja-JP" sz="1050" dirty="0"/>
          </a:p>
        </p:txBody>
      </p:sp>
      <p:pic>
        <p:nvPicPr>
          <p:cNvPr id="12" name="Image 1" descr="C:\Users\otyag\Documents\NURO\_deck_build\product-overview\client-slot-v2-work\captures\hom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5263515"/>
            <a:ext cx="1639824" cy="922401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02920" y="5263515"/>
            <a:ext cx="1639824" cy="922401"/>
          </a:xfrm>
          <a:prstGeom prst="rect">
            <a:avLst/>
          </a:prstGeom>
          <a:ln w="9525">
            <a:solidFill>
              <a:srgbClr val="B8BFBD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" y="6213348"/>
            <a:ext cx="1639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ホーム：光った項目を押す</a:t>
            </a:r>
            <a:endParaRPr lang="ja-JP" sz="900" dirty="0"/>
          </a:p>
        </p:txBody>
      </p:sp>
      <p:pic>
        <p:nvPicPr>
          <p:cNvPr id="15" name="Image 2" descr="C:\Users\otyag\Documents\NURO\_deck_build\product-overview\client-slot-v2-work\captures\game-color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289048" y="5263515"/>
            <a:ext cx="1639824" cy="92240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2289048" y="5263515"/>
            <a:ext cx="1639824" cy="922401"/>
          </a:xfrm>
          <a:prstGeom prst="rect">
            <a:avLst/>
          </a:prstGeom>
          <a:ln w="9525">
            <a:solidFill>
              <a:srgbClr val="B8BFBD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2289048" y="6213348"/>
            <a:ext cx="1639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いろと おと</a:t>
            </a:r>
            <a:endParaRPr lang="ja-JP" sz="900" dirty="0"/>
          </a:p>
        </p:txBody>
      </p:sp>
      <p:pic>
        <p:nvPicPr>
          <p:cNvPr id="18" name="Image 3" descr="C:\Users\otyag\Documents\NURO\_deck_build\product-overview\client-slot-v2-work\captures\result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075176" y="5263515"/>
            <a:ext cx="1639824" cy="922401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4075176" y="5263515"/>
            <a:ext cx="1639824" cy="922401"/>
          </a:xfrm>
          <a:prstGeom prst="rect">
            <a:avLst/>
          </a:prstGeom>
          <a:ln w="9525">
            <a:solidFill>
              <a:srgbClr val="B8BFBD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4075176" y="6213348"/>
            <a:ext cx="1639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90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けっか：割合・ずれ・早め遅め</a:t>
            </a:r>
            <a:endParaRPr lang="ja-JP" sz="900" dirty="0"/>
          </a:p>
        </p:txBody>
      </p:sp>
      <p:sp>
        <p:nvSpPr>
          <p:cNvPr id="21" name="Text 15"/>
          <p:cNvSpPr/>
          <p:nvPr/>
        </p:nvSpPr>
        <p:spPr>
          <a:xfrm>
            <a:off x="6126480" y="1965960"/>
            <a:ext cx="5562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300" b="1" spc="100" kern="0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あそび・課題</a:t>
            </a:r>
            <a:endParaRPr lang="ja-JP" sz="1300" dirty="0"/>
          </a:p>
        </p:txBody>
      </p:sp>
      <p:sp>
        <p:nvSpPr>
          <p:cNvPr id="22" name="Shape 16"/>
          <p:cNvSpPr/>
          <p:nvPr/>
        </p:nvSpPr>
        <p:spPr>
          <a:xfrm>
            <a:off x="6126480" y="2276856"/>
            <a:ext cx="5562295" cy="18288"/>
          </a:xfrm>
          <a:prstGeom prst="rect">
            <a:avLst/>
          </a:prstGeom>
          <a:solidFill>
            <a:srgbClr val="B8BFBD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6126480" y="244144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E4F0EF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6126480" y="24414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L0</a:t>
            </a:r>
            <a:endParaRPr lang="ja-JP" sz="1050" dirty="0"/>
          </a:p>
        </p:txBody>
      </p:sp>
      <p:sp>
        <p:nvSpPr>
          <p:cNvPr id="25" name="Text 19"/>
          <p:cNvSpPr/>
          <p:nvPr/>
        </p:nvSpPr>
        <p:spPr>
          <a:xfrm>
            <a:off x="6949440" y="23774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いろと おと</a:t>
            </a:r>
            <a:endParaRPr lang="ja-JP" sz="1400" dirty="0"/>
          </a:p>
        </p:txBody>
      </p:sp>
      <p:sp>
        <p:nvSpPr>
          <p:cNvPr id="26" name="Text 20"/>
          <p:cNvSpPr/>
          <p:nvPr/>
        </p:nvSpPr>
        <p:spPr>
          <a:xfrm>
            <a:off x="8595360" y="2377440"/>
            <a:ext cx="3093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105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押すたびに色と音が変わる。まず「押せた」を確かめる</a:t>
            </a:r>
            <a:endParaRPr lang="ja-JP" sz="1050" dirty="0"/>
          </a:p>
        </p:txBody>
      </p:sp>
      <p:sp>
        <p:nvSpPr>
          <p:cNvPr id="27" name="Shape 21"/>
          <p:cNvSpPr/>
          <p:nvPr/>
        </p:nvSpPr>
        <p:spPr>
          <a:xfrm>
            <a:off x="6126480" y="2770632"/>
            <a:ext cx="5562295" cy="9144"/>
          </a:xfrm>
          <a:prstGeom prst="rect">
            <a:avLst/>
          </a:prstGeom>
          <a:solidFill>
            <a:srgbClr val="E6E9E8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126480" y="285292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E4F0EF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29" name="Text 23"/>
          <p:cNvSpPr/>
          <p:nvPr/>
        </p:nvSpPr>
        <p:spPr>
          <a:xfrm>
            <a:off x="6126480" y="28529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L1・L2</a:t>
            </a:r>
            <a:endParaRPr lang="ja-JP" sz="1050" dirty="0"/>
          </a:p>
        </p:txBody>
      </p:sp>
      <p:sp>
        <p:nvSpPr>
          <p:cNvPr id="30" name="Text 24"/>
          <p:cNvSpPr/>
          <p:nvPr/>
        </p:nvSpPr>
        <p:spPr>
          <a:xfrm>
            <a:off x="6949440" y="27889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リールを 止める</a:t>
            </a:r>
            <a:endParaRPr lang="ja-JP" sz="1400" dirty="0"/>
          </a:p>
        </p:txBody>
      </p:sp>
      <p:sp>
        <p:nvSpPr>
          <p:cNvPr id="31" name="Text 25"/>
          <p:cNvSpPr/>
          <p:nvPr/>
        </p:nvSpPr>
        <p:spPr>
          <a:xfrm>
            <a:off x="8595360" y="2788920"/>
            <a:ext cx="3093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105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ひとつ／3つ。止めるタイミングと順番を練習</a:t>
            </a:r>
            <a:endParaRPr lang="ja-JP" sz="1050" dirty="0"/>
          </a:p>
        </p:txBody>
      </p:sp>
      <p:sp>
        <p:nvSpPr>
          <p:cNvPr id="32" name="Shape 26"/>
          <p:cNvSpPr/>
          <p:nvPr/>
        </p:nvSpPr>
        <p:spPr>
          <a:xfrm>
            <a:off x="6126480" y="3182112"/>
            <a:ext cx="5562295" cy="9144"/>
          </a:xfrm>
          <a:prstGeom prst="rect">
            <a:avLst/>
          </a:prstGeom>
          <a:solidFill>
            <a:srgbClr val="E6E9E8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126480" y="326440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E4F0EF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126480" y="32644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聴覚</a:t>
            </a:r>
            <a:endParaRPr lang="ja-JP" sz="1050" dirty="0"/>
          </a:p>
        </p:txBody>
      </p:sp>
      <p:sp>
        <p:nvSpPr>
          <p:cNvPr id="35" name="Text 29"/>
          <p:cNvSpPr/>
          <p:nvPr/>
        </p:nvSpPr>
        <p:spPr>
          <a:xfrm>
            <a:off x="6949440" y="32004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たかいおとだけ</a:t>
            </a:r>
            <a:endParaRPr lang="ja-JP" sz="1400" dirty="0"/>
          </a:p>
        </p:txBody>
      </p:sp>
      <p:sp>
        <p:nvSpPr>
          <p:cNvPr id="36" name="Text 30"/>
          <p:cNvSpPr/>
          <p:nvPr/>
        </p:nvSpPr>
        <p:spPr>
          <a:xfrm>
            <a:off x="8595360" y="3200400"/>
            <a:ext cx="3093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105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高い音のときだけ押し、低い音は見送る</a:t>
            </a:r>
            <a:endParaRPr lang="ja-JP" sz="1050" dirty="0"/>
          </a:p>
        </p:txBody>
      </p:sp>
      <p:sp>
        <p:nvSpPr>
          <p:cNvPr id="37" name="Shape 31"/>
          <p:cNvSpPr/>
          <p:nvPr/>
        </p:nvSpPr>
        <p:spPr>
          <a:xfrm>
            <a:off x="6126480" y="3593592"/>
            <a:ext cx="5562295" cy="9144"/>
          </a:xfrm>
          <a:prstGeom prst="rect">
            <a:avLst/>
          </a:prstGeom>
          <a:solidFill>
            <a:srgbClr val="E6E9E8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6126480" y="367588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E4F0EF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6126480" y="367588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走査</a:t>
            </a:r>
            <a:endParaRPr lang="ja-JP" sz="1050" dirty="0"/>
          </a:p>
        </p:txBody>
      </p:sp>
      <p:sp>
        <p:nvSpPr>
          <p:cNvPr id="40" name="Text 34"/>
          <p:cNvSpPr/>
          <p:nvPr/>
        </p:nvSpPr>
        <p:spPr>
          <a:xfrm>
            <a:off x="6949440" y="36118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アームを とめる</a:t>
            </a:r>
            <a:endParaRPr lang="ja-JP" sz="1400" dirty="0"/>
          </a:p>
        </p:txBody>
      </p:sp>
      <p:sp>
        <p:nvSpPr>
          <p:cNvPr id="41" name="Text 35"/>
          <p:cNvSpPr/>
          <p:nvPr/>
        </p:nvSpPr>
        <p:spPr>
          <a:xfrm>
            <a:off x="8595360" y="3611880"/>
            <a:ext cx="3093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105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横→奥の順に止めて、床の位置を決める</a:t>
            </a:r>
            <a:endParaRPr lang="ja-JP" sz="1050" dirty="0"/>
          </a:p>
        </p:txBody>
      </p:sp>
      <p:sp>
        <p:nvSpPr>
          <p:cNvPr id="42" name="Shape 36"/>
          <p:cNvSpPr/>
          <p:nvPr/>
        </p:nvSpPr>
        <p:spPr>
          <a:xfrm>
            <a:off x="6126480" y="4005072"/>
            <a:ext cx="5562295" cy="9144"/>
          </a:xfrm>
          <a:prstGeom prst="rect">
            <a:avLst/>
          </a:prstGeom>
          <a:solidFill>
            <a:srgbClr val="E6E9E8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6126480" y="408736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E4F0EF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6126480" y="408736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反応</a:t>
            </a:r>
            <a:endParaRPr lang="ja-JP" sz="1050" dirty="0"/>
          </a:p>
        </p:txBody>
      </p:sp>
      <p:sp>
        <p:nvSpPr>
          <p:cNvPr id="45" name="Text 39"/>
          <p:cNvSpPr/>
          <p:nvPr/>
        </p:nvSpPr>
        <p:spPr>
          <a:xfrm>
            <a:off x="6949440" y="402336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さかなつり</a:t>
            </a:r>
            <a:endParaRPr lang="ja-JP" sz="1400" dirty="0"/>
          </a:p>
        </p:txBody>
      </p:sp>
      <p:sp>
        <p:nvSpPr>
          <p:cNvPr id="46" name="Text 40"/>
          <p:cNvSpPr/>
          <p:nvPr/>
        </p:nvSpPr>
        <p:spPr>
          <a:xfrm>
            <a:off x="8595360" y="4023360"/>
            <a:ext cx="3093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105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アタリに素早く反応し、偽アタリは見送る</a:t>
            </a:r>
            <a:endParaRPr lang="ja-JP" sz="1050" dirty="0"/>
          </a:p>
        </p:txBody>
      </p:sp>
      <p:sp>
        <p:nvSpPr>
          <p:cNvPr id="47" name="Shape 41"/>
          <p:cNvSpPr/>
          <p:nvPr/>
        </p:nvSpPr>
        <p:spPr>
          <a:xfrm>
            <a:off x="6126480" y="4416552"/>
            <a:ext cx="5562295" cy="9144"/>
          </a:xfrm>
          <a:prstGeom prst="rect">
            <a:avLst/>
          </a:prstGeom>
          <a:solidFill>
            <a:srgbClr val="E6E9E8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6126480" y="4498848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E4F0EF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6126480" y="44988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ja-JP" altLang="en-US" sz="1050" b="1" dirty="0">
                <a:solidFill>
                  <a:srgbClr val="1C7774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教材</a:t>
            </a:r>
            <a:endParaRPr lang="ja-JP" sz="1050" dirty="0"/>
          </a:p>
        </p:txBody>
      </p:sp>
      <p:sp>
        <p:nvSpPr>
          <p:cNvPr id="50" name="Text 44"/>
          <p:cNvSpPr/>
          <p:nvPr/>
        </p:nvSpPr>
        <p:spPr>
          <a:xfrm>
            <a:off x="6949440" y="4434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400" b="1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まなぶ・つたえる</a:t>
            </a:r>
            <a:endParaRPr lang="ja-JP" sz="1400" dirty="0"/>
          </a:p>
        </p:txBody>
      </p:sp>
      <p:sp>
        <p:nvSpPr>
          <p:cNvPr id="51" name="Text 45"/>
          <p:cNvSpPr/>
          <p:nvPr/>
        </p:nvSpPr>
        <p:spPr>
          <a:xfrm>
            <a:off x="8595360" y="4434840"/>
            <a:ext cx="3093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ja-JP" altLang="en-US" sz="1050" dirty="0">
                <a:solidFill>
                  <a:srgbClr val="59616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マッチング／VOCA（ことばを伝える）／文字学習</a:t>
            </a:r>
            <a:endParaRPr lang="ja-JP" sz="1050" dirty="0"/>
          </a:p>
        </p:txBody>
      </p:sp>
      <p:sp>
        <p:nvSpPr>
          <p:cNvPr id="52" name="Shape 46"/>
          <p:cNvSpPr/>
          <p:nvPr/>
        </p:nvSpPr>
        <p:spPr>
          <a:xfrm>
            <a:off x="6126480" y="4828032"/>
            <a:ext cx="5562295" cy="9144"/>
          </a:xfrm>
          <a:prstGeom prst="rect">
            <a:avLst/>
          </a:prstGeom>
          <a:solidFill>
            <a:srgbClr val="E6E9E8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53" name="Shape 47"/>
          <p:cNvSpPr/>
          <p:nvPr/>
        </p:nvSpPr>
        <p:spPr>
          <a:xfrm>
            <a:off x="6126480" y="4956048"/>
            <a:ext cx="5562295" cy="749808"/>
          </a:xfrm>
          <a:prstGeom prst="roundRect">
            <a:avLst>
              <a:gd name="adj" fmla="val 14634"/>
            </a:avLst>
          </a:prstGeom>
          <a:solidFill>
            <a:srgbClr val="F8F6F0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6309360" y="5029200"/>
            <a:ext cx="5196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0F4F4D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支援者むけ</a:t>
            </a:r>
            <a:endParaRPr lang="ja-JP" sz="1200" dirty="0"/>
          </a:p>
        </p:txBody>
      </p:sp>
      <p:sp>
        <p:nvSpPr>
          <p:cNvPr id="55" name="Text 49"/>
          <p:cNvSpPr/>
          <p:nvPr/>
        </p:nvSpPr>
        <p:spPr>
          <a:xfrm>
            <a:off x="6309360" y="5266944"/>
            <a:ext cx="51965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ja-JP" altLang="en-US" sz="105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そくてい＝固定条件で比較 ／ れんしゅう＝速さ・許容幅・回数を調整</a:t>
            </a:r>
            <a:endParaRPr lang="ja-JP" sz="1050" dirty="0"/>
          </a:p>
          <a:p>
            <a:pPr indent="0" marL="0">
              <a:lnSpc>
                <a:spcPct val="115000"/>
              </a:lnSpc>
              <a:buNone/>
            </a:pPr>
            <a:r>
              <a:rPr lang="ja-JP" altLang="en-US" sz="105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1 入力ごとの記録を CSV で出力 ／ iPad Switch Control と自動走査を切替</a:t>
            </a:r>
            <a:endParaRPr lang="ja-JP" sz="1050" dirty="0"/>
          </a:p>
        </p:txBody>
      </p:sp>
      <p:sp>
        <p:nvSpPr>
          <p:cNvPr id="56" name="Shape 50"/>
          <p:cNvSpPr/>
          <p:nvPr/>
        </p:nvSpPr>
        <p:spPr>
          <a:xfrm>
            <a:off x="6126480" y="5797296"/>
            <a:ext cx="5562295" cy="603504"/>
          </a:xfrm>
          <a:prstGeom prst="roundRect">
            <a:avLst>
              <a:gd name="adj" fmla="val 18182"/>
            </a:avLst>
          </a:prstGeom>
          <a:solidFill>
            <a:srgbClr val="FBF1DF"/>
          </a:solidFill>
          <a:ln w="12700">
            <a:solidFill>
              <a:srgbClr val="B8BFBD"/>
            </a:solidFill>
            <a:prstDash val="solid"/>
          </a:ln>
        </p:spPr>
      </p:sp>
      <p:sp>
        <p:nvSpPr>
          <p:cNvPr id="57" name="Text 51"/>
          <p:cNvSpPr/>
          <p:nvPr/>
        </p:nvSpPr>
        <p:spPr>
          <a:xfrm>
            <a:off x="6309360" y="5870448"/>
            <a:ext cx="519653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ja-JP" altLang="en-US" sz="1200" b="1" dirty="0">
                <a:solidFill>
                  <a:srgbClr val="8A5A1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体験のながれ（約2分）</a:t>
            </a:r>
            <a:endParaRPr lang="ja-JP" sz="1200" dirty="0"/>
          </a:p>
        </p:txBody>
      </p:sp>
      <p:sp>
        <p:nvSpPr>
          <p:cNvPr id="58" name="Text 52"/>
          <p:cNvSpPr/>
          <p:nvPr/>
        </p:nvSpPr>
        <p:spPr>
          <a:xfrm>
            <a:off x="6309360" y="6108192"/>
            <a:ext cx="5196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ja-JP" altLang="en-US" sz="1050" dirty="0">
                <a:solidFill>
                  <a:srgbClr val="111111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スタートで1回押す → ホームで項目を選ぶ → 課題（約1分） → けっか</a:t>
            </a:r>
            <a:endParaRPr lang="ja-JP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NeuroNode 訓練アプリ 展示パネル 2026-08-30</dc:title>
  <dc:subject>PptxGenJS Presentation</dc:subject>
  <dc:creator>NeuroNode 訓練アプリ プロジェクト</dc:creator>
  <cp:lastModifiedBy>NeuroNode 訓練アプリ プロジェクト</cp:lastModifiedBy>
  <cp:revision>1</cp:revision>
  <dcterms:created xsi:type="dcterms:W3CDTF">2026-08-26T03:47:20Z</dcterms:created>
  <dcterms:modified xsi:type="dcterms:W3CDTF">2026-08-26T03:47:20Z</dcterms:modified>
</cp:coreProperties>
</file>