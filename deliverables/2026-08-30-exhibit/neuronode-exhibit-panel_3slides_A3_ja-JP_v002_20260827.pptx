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124176" cy="10689336"/>
  <p:notesSz cx="10689336" cy="1512417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1/3（v002）。図は模式図。製品情報の出典: https://controlbionics.com/neuronode/ ／ https://controlbionics.com/products-and-devices/（2026-08-26 閲覧）。製品写真・ロゴは未使用。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2/3（v002）。根拠: README.md、docs/research-summary.md、basic-design.md。画面は 2026-08-26 に現行ビルドから撮影。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3/3（v002）。画面は 2026-08-26 に現行ビルド（dist）から撮影。課題名は src/lib/content.js の利用者向け表記。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33400"/>
            <a:ext cx="95250" cy="148209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533400"/>
            <a:ext cx="1143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 ｜ ニューロノードとは</a:t>
            </a:r>
            <a:endParaRPr lang="ja-JP" sz="1350" dirty="0"/>
          </a:p>
        </p:txBody>
      </p:sp>
      <p:sp>
        <p:nvSpPr>
          <p:cNvPr id="4" name="Text 2"/>
          <p:cNvSpPr/>
          <p:nvPr/>
        </p:nvSpPr>
        <p:spPr>
          <a:xfrm>
            <a:off x="933450" y="838200"/>
            <a:ext cx="135255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ニューロノード（NeuroNode）とは</a:t>
            </a:r>
            <a:endParaRPr lang="ja-JP" sz="4800" dirty="0"/>
          </a:p>
        </p:txBody>
      </p:sp>
      <p:sp>
        <p:nvSpPr>
          <p:cNvPr id="5" name="Text 3"/>
          <p:cNvSpPr/>
          <p:nvPr/>
        </p:nvSpPr>
        <p:spPr>
          <a:xfrm>
            <a:off x="933450" y="1615440"/>
            <a:ext cx="1352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筋肉の電気信号（筋電）を読み取って iPad などを操作できる、からだに着ける「スイッチ」です。</a:t>
            </a:r>
            <a:endParaRPr lang="ja-JP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2305050"/>
            <a:ext cx="13896975" cy="4191000"/>
          </a:xfrm>
          <a:prstGeom prst="roundRect">
            <a:avLst>
              <a:gd name="adj" fmla="val 5455"/>
            </a:avLst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pic>
        <p:nvPicPr>
          <p:cNvPr id="7" name="Image 0" descr="C:\Users\otyag\Documents\NURO\_deck_build\exhibit-panel-2026-08-30\canvas\pictograms\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2686050"/>
            <a:ext cx="2667000" cy="2047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8006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からだに着ける</a:t>
            </a:r>
            <a:endParaRPr lang="ja-JP" sz="2100" dirty="0"/>
          </a:p>
        </p:txBody>
      </p:sp>
      <p:sp>
        <p:nvSpPr>
          <p:cNvPr id="9" name="Text 6"/>
          <p:cNvSpPr/>
          <p:nvPr/>
        </p:nvSpPr>
        <p:spPr>
          <a:xfrm>
            <a:off x="819150" y="5219700"/>
            <a:ext cx="295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27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筋肉の上に小さな無線センサーをバンドで着けるだけ。手術も配線も不要</a:t>
            </a:r>
            <a:endParaRPr lang="ja-JP" sz="1275" dirty="0"/>
          </a:p>
        </p:txBody>
      </p:sp>
      <p:sp>
        <p:nvSpPr>
          <p:cNvPr id="10" name="Text 7"/>
          <p:cNvSpPr/>
          <p:nvPr/>
        </p:nvSpPr>
        <p:spPr>
          <a:xfrm>
            <a:off x="3829050" y="373380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ja-JP" altLang="en-US" sz="1125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「動かそう」とした時の筋電（EMG）や、わずかな動き</a:t>
            </a:r>
            <a:endParaRPr lang="ja-JP" sz="1125" dirty="0"/>
          </a:p>
        </p:txBody>
      </p:sp>
      <p:pic>
        <p:nvPicPr>
          <p:cNvPr id="11" name="Image 1" descr="C:\Users\otyag\Documents\NURO\_deck_build\exhibit-panel-2026-08-30\canvas\pictograms\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4476750"/>
            <a:ext cx="1238250" cy="323850"/>
          </a:xfrm>
          <a:prstGeom prst="rect">
            <a:avLst/>
          </a:prstGeom>
        </p:spPr>
      </p:pic>
      <p:pic>
        <p:nvPicPr>
          <p:cNvPr id="12" name="Image 2" descr="C:\Users\otyag\Documents\NURO\_deck_build\exhibit-panel-2026-08-30\canvas\pictograms\sens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2686050"/>
            <a:ext cx="2457450" cy="2047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0200" y="48006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95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が読み取る</a:t>
            </a:r>
            <a:endParaRPr lang="ja-JP" sz="1950" dirty="0"/>
          </a:p>
        </p:txBody>
      </p:sp>
      <p:sp>
        <p:nvSpPr>
          <p:cNvPr id="14" name="Text 9"/>
          <p:cNvSpPr/>
          <p:nvPr/>
        </p:nvSpPr>
        <p:spPr>
          <a:xfrm>
            <a:off x="5410200" y="5219700"/>
            <a:ext cx="295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350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目に見える動きがなくても、筋肉の小さな信号を「押した」に変える</a:t>
            </a:r>
            <a:endParaRPr lang="ja-JP" sz="1350" dirty="0"/>
          </a:p>
        </p:txBody>
      </p:sp>
      <p:sp>
        <p:nvSpPr>
          <p:cNvPr id="15" name="Text 10"/>
          <p:cNvSpPr/>
          <p:nvPr/>
        </p:nvSpPr>
        <p:spPr>
          <a:xfrm>
            <a:off x="8515350" y="382905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ja-JP" altLang="en-US" sz="1125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無線で「1回の入力」として送る</a:t>
            </a:r>
            <a:endParaRPr lang="ja-JP" sz="1125" dirty="0"/>
          </a:p>
        </p:txBody>
      </p:sp>
      <p:sp>
        <p:nvSpPr>
          <p:cNvPr id="16" name="Shape 11"/>
          <p:cNvSpPr/>
          <p:nvPr/>
        </p:nvSpPr>
        <p:spPr>
          <a:xfrm>
            <a:off x="8753475" y="4638675"/>
            <a:ext cx="952500" cy="0"/>
          </a:xfrm>
          <a:prstGeom prst="line">
            <a:avLst/>
          </a:prstGeom>
          <a:noFill/>
          <a:ln w="38100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10144125" y="2686050"/>
            <a:ext cx="4095750" cy="2420541"/>
          </a:xfrm>
          <a:prstGeom prst="roundRect">
            <a:avLst>
              <a:gd name="adj" fmla="val 11018"/>
            </a:avLst>
          </a:prstGeom>
          <a:solidFill>
            <a:srgbClr val="102B2A"/>
          </a:solidFill>
          <a:ln w="12700">
            <a:solidFill>
              <a:srgbClr val="102B2A"/>
            </a:solidFill>
            <a:prstDash val="solid"/>
          </a:ln>
        </p:spPr>
      </p:sp>
      <p:pic>
        <p:nvPicPr>
          <p:cNvPr id="18" name="Image 3" descr="C:\Users\otyag\Documents\NURO\_deck_build\exhibit-panel-2026-08-30\canvas\captures-raw\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475" y="2819400"/>
            <a:ext cx="3829050" cy="21538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96500" y="5182791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1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 が受け取る</a:t>
            </a:r>
            <a:endParaRPr lang="ja-JP" sz="2100" dirty="0"/>
          </a:p>
        </p:txBody>
      </p:sp>
      <p:sp>
        <p:nvSpPr>
          <p:cNvPr id="20" name="Text 14"/>
          <p:cNvSpPr/>
          <p:nvPr/>
        </p:nvSpPr>
        <p:spPr>
          <a:xfrm>
            <a:off x="10096500" y="5601891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ja-JP" altLang="en-US" sz="1350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 の Switch Control で項目を選んだり、訓練アプリで練習したりできる</a:t>
            </a:r>
            <a:endParaRPr lang="ja-JP" sz="1350" dirty="0"/>
          </a:p>
        </p:txBody>
      </p:sp>
      <p:pic>
        <p:nvPicPr>
          <p:cNvPr id="21" name="Image 4" descr="C:\Users\otyag\Documents\NURO\_deck_build\exhibit-panel-2026-08-30\canvas\pictograms\icon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838950"/>
            <a:ext cx="647700" cy="6477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28750" y="6819900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見える動きがなくても</a:t>
            </a:r>
            <a:endParaRPr lang="ja-JP" sz="1875" dirty="0"/>
          </a:p>
        </p:txBody>
      </p:sp>
      <p:sp>
        <p:nvSpPr>
          <p:cNvPr id="23" name="Text 16"/>
          <p:cNvSpPr/>
          <p:nvPr/>
        </p:nvSpPr>
        <p:spPr>
          <a:xfrm>
            <a:off x="1428750" y="7200900"/>
            <a:ext cx="3609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動かそうとした時のごく小さな電気信号を読み取る。動きが小さくても、はっきり見えなくても入力になる。</a:t>
            </a:r>
            <a:endParaRPr lang="ja-JP" sz="1425" dirty="0"/>
          </a:p>
        </p:txBody>
      </p:sp>
      <p:pic>
        <p:nvPicPr>
          <p:cNvPr id="24" name="Image 5" descr="C:\Users\otyag\Documents\NURO\_deck_build\exhibit-panel-2026-08-30\canvas\pictograms\icon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6838950"/>
            <a:ext cx="647700" cy="6477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62675" y="6819900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貼るだけ、配線なし</a:t>
            </a:r>
            <a:endParaRPr lang="ja-JP" sz="1875" dirty="0"/>
          </a:p>
        </p:txBody>
      </p:sp>
      <p:sp>
        <p:nvSpPr>
          <p:cNvPr id="26" name="Text 18"/>
          <p:cNvSpPr/>
          <p:nvPr/>
        </p:nvSpPr>
        <p:spPr>
          <a:xfrm>
            <a:off x="6162675" y="7200900"/>
            <a:ext cx="3609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からだのどこにでも着けられ、姿勢や部屋の明るさに左右されにくい。</a:t>
            </a:r>
            <a:endParaRPr lang="ja-JP" sz="1425" dirty="0"/>
          </a:p>
        </p:txBody>
      </p:sp>
      <p:pic>
        <p:nvPicPr>
          <p:cNvPr id="27" name="Image 6" descr="C:\Users\otyag\Documents\NURO\_deck_build\exhibit-panel-2026-08-30\canvas\pictograms\icon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7450" y="6838950"/>
            <a:ext cx="647700" cy="6477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896600" y="6819900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1つの入力で機器を操作</a:t>
            </a:r>
            <a:endParaRPr lang="ja-JP" sz="1875" dirty="0"/>
          </a:p>
        </p:txBody>
      </p:sp>
      <p:sp>
        <p:nvSpPr>
          <p:cNvPr id="29" name="Text 20"/>
          <p:cNvSpPr/>
          <p:nvPr/>
        </p:nvSpPr>
        <p:spPr>
          <a:xfrm>
            <a:off x="10896600" y="7200900"/>
            <a:ext cx="3609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iPad・パソコン・スマートフォンと無線でつながる。順番に光る項目を押して選ぶ。</a:t>
            </a:r>
            <a:endParaRPr lang="ja-JP" sz="1425" dirty="0"/>
          </a:p>
        </p:txBody>
      </p:sp>
      <p:sp>
        <p:nvSpPr>
          <p:cNvPr id="30" name="Shape 21"/>
          <p:cNvSpPr/>
          <p:nvPr/>
        </p:nvSpPr>
        <p:spPr>
          <a:xfrm>
            <a:off x="609600" y="8420100"/>
            <a:ext cx="76200" cy="666750"/>
          </a:xfrm>
          <a:prstGeom prst="rect">
            <a:avLst/>
          </a:prstGeom>
          <a:solidFill>
            <a:srgbClr val="1C7774"/>
          </a:solidFill>
          <a:ln w="12700">
            <a:solidFill>
              <a:srgbClr val="1C7774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876300" y="8420100"/>
            <a:ext cx="136302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575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対象となる方　</a:t>
            </a:r>
            <a:pPr indent="0" marL="0">
              <a:lnSpc>
                <a:spcPct val="115000"/>
              </a:lnSpc>
              <a:buNone/>
            </a:pPr>
            <a:r>
              <a:rPr lang="ja-JP" altLang="en-US" sz="1575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 などの神経難病、脊髄損傷、脳性まひ など、からだを動かしにくい方や発話が難しい方。意思を伝える手段（AAC）や、機器を操作する手段として使われています。</a:t>
            </a:r>
            <a:endParaRPr lang="ja-JP" sz="1575" dirty="0"/>
          </a:p>
        </p:txBody>
      </p:sp>
      <p:sp>
        <p:nvSpPr>
          <p:cNvPr id="32" name="Shape 23"/>
          <p:cNvSpPr/>
          <p:nvPr/>
        </p:nvSpPr>
        <p:spPr>
          <a:xfrm>
            <a:off x="609600" y="9906000"/>
            <a:ext cx="13896975" cy="19050"/>
          </a:xfrm>
          <a:prstGeom prst="rect">
            <a:avLst/>
          </a:prstGeom>
          <a:solidFill>
            <a:srgbClr val="D5DFDC"/>
          </a:solidFill>
          <a:ln w="12700">
            <a:solidFill>
              <a:srgbClr val="D5DFDC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609600" y="1000125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 ｜ 製品: Control Bionics 社（米国）NeuroNode ｜ 図は模式図です</a:t>
            </a:r>
            <a:endParaRPr lang="ja-JP" sz="1125" dirty="0"/>
          </a:p>
        </p:txBody>
      </p:sp>
      <p:sp>
        <p:nvSpPr>
          <p:cNvPr id="34" name="Text 25"/>
          <p:cNvSpPr/>
          <p:nvPr/>
        </p:nvSpPr>
        <p:spPr>
          <a:xfrm>
            <a:off x="12982575" y="100012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/ 3</a:t>
            </a:r>
            <a:endParaRPr lang="ja-JP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33400"/>
            <a:ext cx="95250" cy="148209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533400"/>
            <a:ext cx="1143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 ｜ 訓練アプリの目的</a:t>
            </a:r>
            <a:endParaRPr lang="ja-JP" sz="1350" dirty="0"/>
          </a:p>
        </p:txBody>
      </p:sp>
      <p:sp>
        <p:nvSpPr>
          <p:cNvPr id="4" name="Text 2"/>
          <p:cNvSpPr/>
          <p:nvPr/>
        </p:nvSpPr>
        <p:spPr>
          <a:xfrm>
            <a:off x="933450" y="838200"/>
            <a:ext cx="135255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ニューロノードの「使いはじめ」を支える</a:t>
            </a:r>
            <a:endParaRPr lang="ja-JP" sz="4800" dirty="0"/>
          </a:p>
        </p:txBody>
      </p:sp>
      <p:sp>
        <p:nvSpPr>
          <p:cNvPr id="5" name="Text 3"/>
          <p:cNvSpPr/>
          <p:nvPr/>
        </p:nvSpPr>
        <p:spPr>
          <a:xfrm>
            <a:off x="933450" y="1615440"/>
            <a:ext cx="1352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使い始める方が支援者と一緒に「1回の入力」に慣れ、上達を数字で確かめるための iPad アプリです。</a:t>
            </a:r>
            <a:endParaRPr lang="ja-JP" sz="1800" dirty="0"/>
          </a:p>
        </p:txBody>
      </p:sp>
      <p:sp>
        <p:nvSpPr>
          <p:cNvPr id="6" name="Shape 4"/>
          <p:cNvSpPr/>
          <p:nvPr/>
        </p:nvSpPr>
        <p:spPr>
          <a:xfrm>
            <a:off x="609600" y="2209800"/>
            <a:ext cx="6815138" cy="3981450"/>
          </a:xfrm>
          <a:prstGeom prst="roundRect">
            <a:avLst>
              <a:gd name="adj" fmla="val 5263"/>
            </a:avLst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5350" y="24384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sz="2250" dirty="0"/>
          </a:p>
        </p:txBody>
      </p:sp>
      <p:sp>
        <p:nvSpPr>
          <p:cNvPr id="8" name="Text 6"/>
          <p:cNvSpPr/>
          <p:nvPr/>
        </p:nvSpPr>
        <p:spPr>
          <a:xfrm>
            <a:off x="1409700" y="24384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なれる</a:t>
            </a:r>
            <a:endParaRPr lang="ja-JP" sz="2250" dirty="0"/>
          </a:p>
        </p:txBody>
      </p:sp>
      <p:sp>
        <p:nvSpPr>
          <p:cNvPr id="9" name="Text 7"/>
          <p:cNvSpPr/>
          <p:nvPr/>
        </p:nvSpPr>
        <p:spPr>
          <a:xfrm>
            <a:off x="2895600" y="2476500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1回の入力 ＝ 1つの反応</a:t>
            </a:r>
            <a:endParaRPr lang="ja-JP" sz="1425" dirty="0"/>
          </a:p>
        </p:txBody>
      </p:sp>
      <p:pic>
        <p:nvPicPr>
          <p:cNvPr id="10" name="Image 0" descr="C:\Users\otyag\Documents\NURO\_deck_build\exhibit-panel-2026-08-30\canvas\pictograms\but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225" y="3333750"/>
            <a:ext cx="1143000" cy="1143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5350" y="45339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 押す</a:t>
            </a:r>
            <a:endParaRPr lang="ja-JP" sz="1275" dirty="0"/>
          </a:p>
        </p:txBody>
      </p:sp>
      <p:sp>
        <p:nvSpPr>
          <p:cNvPr id="12" name="Shape 9"/>
          <p:cNvSpPr/>
          <p:nvPr/>
        </p:nvSpPr>
        <p:spPr>
          <a:xfrm>
            <a:off x="2514600" y="3924300"/>
            <a:ext cx="476250" cy="0"/>
          </a:xfrm>
          <a:prstGeom prst="line">
            <a:avLst/>
          </a:prstGeom>
          <a:noFill/>
          <a:ln w="38100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00400" y="2876550"/>
            <a:ext cx="3938588" cy="2265462"/>
          </a:xfrm>
          <a:prstGeom prst="roundRect">
            <a:avLst>
              <a:gd name="adj" fmla="val 5886"/>
            </a:avLst>
          </a:prstGeom>
          <a:solidFill>
            <a:srgbClr val="102B2A"/>
          </a:solidFill>
          <a:ln w="12700">
            <a:solidFill>
              <a:srgbClr val="102B2A"/>
            </a:solidFill>
            <a:prstDash val="solid"/>
          </a:ln>
        </p:spPr>
      </p:sp>
      <p:pic>
        <p:nvPicPr>
          <p:cNvPr id="14" name="Image 1" descr="C:\Users\otyag\Documents\NURO\_deck_build\exhibit-panel-2026-08-30\canvas\captures-raw\game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2933700"/>
            <a:ext cx="3824288" cy="21511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5180112"/>
            <a:ext cx="39385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色と音が 1つ 変わる</a:t>
            </a:r>
            <a:endParaRPr lang="ja-JP" sz="1275" dirty="0"/>
          </a:p>
        </p:txBody>
      </p:sp>
      <p:sp>
        <p:nvSpPr>
          <p:cNvPr id="16" name="Text 12"/>
          <p:cNvSpPr/>
          <p:nvPr/>
        </p:nvSpPr>
        <p:spPr>
          <a:xfrm>
            <a:off x="895350" y="5448300"/>
            <a:ext cx="62436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7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課題中は画面全体がスイッチ。どこを押しても、どの筋肉で押しても「押した」が伝わり、遊びながら入力に慣れます。</a:t>
            </a:r>
            <a:endParaRPr lang="ja-JP" sz="1275" dirty="0"/>
          </a:p>
        </p:txBody>
      </p:sp>
      <p:sp>
        <p:nvSpPr>
          <p:cNvPr id="17" name="Shape 13"/>
          <p:cNvSpPr/>
          <p:nvPr/>
        </p:nvSpPr>
        <p:spPr>
          <a:xfrm>
            <a:off x="7691438" y="2209800"/>
            <a:ext cx="6815138" cy="3981450"/>
          </a:xfrm>
          <a:prstGeom prst="roundRect">
            <a:avLst>
              <a:gd name="adj" fmla="val 5263"/>
            </a:avLst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77188" y="24384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sz="2250" dirty="0"/>
          </a:p>
        </p:txBody>
      </p:sp>
      <p:sp>
        <p:nvSpPr>
          <p:cNvPr id="19" name="Text 15"/>
          <p:cNvSpPr/>
          <p:nvPr/>
        </p:nvSpPr>
        <p:spPr>
          <a:xfrm>
            <a:off x="8491538" y="24384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はかる</a:t>
            </a:r>
            <a:endParaRPr lang="ja-JP" sz="2250" dirty="0"/>
          </a:p>
        </p:txBody>
      </p:sp>
      <p:sp>
        <p:nvSpPr>
          <p:cNvPr id="20" name="Text 16"/>
          <p:cNvSpPr/>
          <p:nvPr/>
        </p:nvSpPr>
        <p:spPr>
          <a:xfrm>
            <a:off x="9977438" y="2476500"/>
            <a:ext cx="42433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押したタイミングのずれを毎回記録</a:t>
            </a:r>
            <a:endParaRPr lang="ja-JP" sz="1425" dirty="0"/>
          </a:p>
        </p:txBody>
      </p:sp>
      <p:pic>
        <p:nvPicPr>
          <p:cNvPr id="21" name="Image 2" descr="C:\Users\otyag\Documents\NURO\_deck_build\exhibit-panel-2026-08-30\canvas\pictograms\tim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188" y="3009900"/>
            <a:ext cx="4000500" cy="1600200"/>
          </a:xfrm>
          <a:prstGeom prst="rect">
            <a:avLst/>
          </a:prstGeom>
        </p:spPr>
      </p:pic>
      <p:pic>
        <p:nvPicPr>
          <p:cNvPr id="22" name="Image 3" descr="C:\Users\otyag\Documents\NURO\_deck_build\exhibit-panel-2026-08-30\canvas\captures-raw\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149138" y="3084463"/>
            <a:ext cx="2071688" cy="116532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2149138" y="3084463"/>
            <a:ext cx="2071688" cy="1165324"/>
          </a:xfrm>
          <a:prstGeom prst="roundRect">
            <a:avLst>
              <a:gd name="adj" fmla="val 8174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2149138" y="4306937"/>
            <a:ext cx="207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けっか画面</a:t>
            </a:r>
            <a:endParaRPr lang="ja-JP" sz="1200" dirty="0"/>
          </a:p>
        </p:txBody>
      </p:sp>
      <p:sp>
        <p:nvSpPr>
          <p:cNvPr id="25" name="Text 19"/>
          <p:cNvSpPr/>
          <p:nvPr/>
        </p:nvSpPr>
        <p:spPr>
          <a:xfrm>
            <a:off x="7977188" y="4876800"/>
            <a:ext cx="62436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7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早い／遅い／ばらつきを数字で残すので、同じ条件で訓練の前後や設定の違いを比べられます。</a:t>
            </a:r>
            <a:endParaRPr lang="ja-JP" sz="1275" dirty="0"/>
          </a:p>
        </p:txBody>
      </p:sp>
      <p:sp>
        <p:nvSpPr>
          <p:cNvPr id="26" name="Text 20"/>
          <p:cNvSpPr/>
          <p:nvPr/>
        </p:nvSpPr>
        <p:spPr>
          <a:xfrm>
            <a:off x="609600" y="64389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sz="2250" dirty="0"/>
          </a:p>
        </p:txBody>
      </p:sp>
      <p:sp>
        <p:nvSpPr>
          <p:cNvPr id="27" name="Text 21"/>
          <p:cNvSpPr/>
          <p:nvPr/>
        </p:nvSpPr>
        <p:spPr>
          <a:xfrm>
            <a:off x="1123950" y="64389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5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つなげる</a:t>
            </a:r>
            <a:endParaRPr lang="ja-JP" sz="2250" dirty="0"/>
          </a:p>
        </p:txBody>
      </p:sp>
      <p:sp>
        <p:nvSpPr>
          <p:cNvPr id="28" name="Text 22"/>
          <p:cNvSpPr/>
          <p:nvPr/>
        </p:nvSpPr>
        <p:spPr>
          <a:xfrm>
            <a:off x="2667000" y="64770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段階を踏んで、「選ぶ・伝える」まで</a:t>
            </a:r>
            <a:endParaRPr lang="ja-JP" sz="1425" dirty="0"/>
          </a:p>
        </p:txBody>
      </p:sp>
      <p:sp>
        <p:nvSpPr>
          <p:cNvPr id="29" name="Shape 23"/>
          <p:cNvSpPr/>
          <p:nvPr/>
        </p:nvSpPr>
        <p:spPr>
          <a:xfrm>
            <a:off x="609600" y="6915150"/>
            <a:ext cx="3102769" cy="2397770"/>
          </a:xfrm>
          <a:prstGeom prst="roundRect">
            <a:avLst>
              <a:gd name="adj" fmla="val 6356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pic>
        <p:nvPicPr>
          <p:cNvPr id="30" name="Image 4" descr="C:\Users\otyag\Documents\NURO\_deck_build\exhibit-panel-2026-08-30\canvas\captures-raw\game-colo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3900" y="7029450"/>
            <a:ext cx="2874169" cy="161672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23900" y="7029450"/>
            <a:ext cx="2874169" cy="1616720"/>
          </a:xfrm>
          <a:prstGeom prst="roundRect">
            <a:avLst>
              <a:gd name="adj" fmla="val 5892"/>
            </a:avLst>
          </a:prstGeom>
          <a:ln w="12700">
            <a:solidFill>
              <a:srgbClr val="E2F0ED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23900" y="8741420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L0</a:t>
            </a:r>
            <a:endParaRPr lang="ja-JP" sz="1950" dirty="0"/>
          </a:p>
        </p:txBody>
      </p:sp>
      <p:sp>
        <p:nvSpPr>
          <p:cNvPr id="33" name="Text 26"/>
          <p:cNvSpPr/>
          <p:nvPr/>
        </p:nvSpPr>
        <p:spPr>
          <a:xfrm>
            <a:off x="1257300" y="8722370"/>
            <a:ext cx="2340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反応を確かめる</a:t>
            </a:r>
            <a:endParaRPr lang="ja-JP" sz="1500" dirty="0"/>
          </a:p>
        </p:txBody>
      </p:sp>
      <p:sp>
        <p:nvSpPr>
          <p:cNvPr id="34" name="Text 27"/>
          <p:cNvSpPr/>
          <p:nvPr/>
        </p:nvSpPr>
        <p:spPr>
          <a:xfrm>
            <a:off x="1257300" y="8989070"/>
            <a:ext cx="2340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いろと おと</a:t>
            </a:r>
            <a:endParaRPr lang="ja-JP" sz="1125" dirty="0"/>
          </a:p>
        </p:txBody>
      </p:sp>
      <p:sp>
        <p:nvSpPr>
          <p:cNvPr id="35" name="Shape 28"/>
          <p:cNvSpPr/>
          <p:nvPr/>
        </p:nvSpPr>
        <p:spPr>
          <a:xfrm>
            <a:off x="3826669" y="8114035"/>
            <a:ext cx="266700" cy="0"/>
          </a:xfrm>
          <a:prstGeom prst="line">
            <a:avLst/>
          </a:prstGeom>
          <a:noFill/>
          <a:ln w="31750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4207669" y="6915150"/>
            <a:ext cx="3102769" cy="2397770"/>
          </a:xfrm>
          <a:prstGeom prst="roundRect">
            <a:avLst>
              <a:gd name="adj" fmla="val 6356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pic>
        <p:nvPicPr>
          <p:cNvPr id="37" name="Image 5" descr="C:\Users\otyag\Documents\NURO\_deck_build\exhibit-panel-2026-08-30\canvas\captures-raw\game-slot-l1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21969" y="7029450"/>
            <a:ext cx="2874169" cy="161672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321969" y="7029450"/>
            <a:ext cx="2874169" cy="1616720"/>
          </a:xfrm>
          <a:prstGeom prst="roundRect">
            <a:avLst>
              <a:gd name="adj" fmla="val 5892"/>
            </a:avLst>
          </a:prstGeom>
          <a:ln w="12700">
            <a:solidFill>
              <a:srgbClr val="E2F0ED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321969" y="8741420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L1</a:t>
            </a:r>
            <a:endParaRPr lang="ja-JP" sz="1950" dirty="0"/>
          </a:p>
        </p:txBody>
      </p:sp>
      <p:sp>
        <p:nvSpPr>
          <p:cNvPr id="40" name="Text 32"/>
          <p:cNvSpPr/>
          <p:nvPr/>
        </p:nvSpPr>
        <p:spPr>
          <a:xfrm>
            <a:off x="4855369" y="8722370"/>
            <a:ext cx="2340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タイミング</a:t>
            </a:r>
            <a:endParaRPr lang="ja-JP" sz="1500" dirty="0"/>
          </a:p>
        </p:txBody>
      </p:sp>
      <p:sp>
        <p:nvSpPr>
          <p:cNvPr id="41" name="Text 33"/>
          <p:cNvSpPr/>
          <p:nvPr/>
        </p:nvSpPr>
        <p:spPr>
          <a:xfrm>
            <a:off x="4855369" y="8989070"/>
            <a:ext cx="2340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ひとつ とめる</a:t>
            </a:r>
            <a:endParaRPr lang="ja-JP" sz="1125" dirty="0"/>
          </a:p>
        </p:txBody>
      </p:sp>
      <p:sp>
        <p:nvSpPr>
          <p:cNvPr id="42" name="Shape 34"/>
          <p:cNvSpPr/>
          <p:nvPr/>
        </p:nvSpPr>
        <p:spPr>
          <a:xfrm>
            <a:off x="7424737" y="8114035"/>
            <a:ext cx="266700" cy="0"/>
          </a:xfrm>
          <a:prstGeom prst="line">
            <a:avLst/>
          </a:prstGeom>
          <a:noFill/>
          <a:ln w="31750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7805738" y="6915150"/>
            <a:ext cx="3102769" cy="2397770"/>
          </a:xfrm>
          <a:prstGeom prst="roundRect">
            <a:avLst>
              <a:gd name="adj" fmla="val 6356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pic>
        <p:nvPicPr>
          <p:cNvPr id="44" name="Image 6" descr="C:\Users\otyag\Documents\NURO\_deck_build\exhibit-panel-2026-08-30\canvas\captures-raw\game-slot-l2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20038" y="7029450"/>
            <a:ext cx="2874169" cy="161672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7920038" y="7029450"/>
            <a:ext cx="2874169" cy="1616720"/>
          </a:xfrm>
          <a:prstGeom prst="roundRect">
            <a:avLst>
              <a:gd name="adj" fmla="val 5892"/>
            </a:avLst>
          </a:prstGeom>
          <a:ln w="12700">
            <a:solidFill>
              <a:srgbClr val="E2F0ED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7920038" y="8741420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L2</a:t>
            </a:r>
            <a:endParaRPr lang="ja-JP" sz="1950" dirty="0"/>
          </a:p>
        </p:txBody>
      </p:sp>
      <p:sp>
        <p:nvSpPr>
          <p:cNvPr id="47" name="Text 38"/>
          <p:cNvSpPr/>
          <p:nvPr/>
        </p:nvSpPr>
        <p:spPr>
          <a:xfrm>
            <a:off x="8453438" y="8722370"/>
            <a:ext cx="2340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順番に入力</a:t>
            </a:r>
            <a:endParaRPr lang="ja-JP" sz="1500" dirty="0"/>
          </a:p>
        </p:txBody>
      </p:sp>
      <p:sp>
        <p:nvSpPr>
          <p:cNvPr id="48" name="Text 39"/>
          <p:cNvSpPr/>
          <p:nvPr/>
        </p:nvSpPr>
        <p:spPr>
          <a:xfrm>
            <a:off x="8453438" y="8989070"/>
            <a:ext cx="2340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 とめる</a:t>
            </a:r>
            <a:endParaRPr lang="ja-JP" sz="1125" dirty="0"/>
          </a:p>
        </p:txBody>
      </p:sp>
      <p:sp>
        <p:nvSpPr>
          <p:cNvPr id="49" name="Shape 40"/>
          <p:cNvSpPr/>
          <p:nvPr/>
        </p:nvSpPr>
        <p:spPr>
          <a:xfrm>
            <a:off x="11022806" y="8114035"/>
            <a:ext cx="266700" cy="0"/>
          </a:xfrm>
          <a:prstGeom prst="line">
            <a:avLst/>
          </a:prstGeom>
          <a:noFill/>
          <a:ln w="31750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11403806" y="6915150"/>
            <a:ext cx="3102769" cy="2397770"/>
          </a:xfrm>
          <a:prstGeom prst="roundRect">
            <a:avLst>
              <a:gd name="adj" fmla="val 6356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pic>
        <p:nvPicPr>
          <p:cNvPr id="51" name="Image 7" descr="C:\Users\otyag\Documents\NURO\_deck_build\exhibit-panel-2026-08-30\canvas\captures-raw\learning-voca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518106" y="7029450"/>
            <a:ext cx="2874169" cy="161672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11518106" y="7029450"/>
            <a:ext cx="2874169" cy="1616720"/>
          </a:xfrm>
          <a:prstGeom prst="roundRect">
            <a:avLst>
              <a:gd name="adj" fmla="val 5892"/>
            </a:avLst>
          </a:prstGeom>
          <a:ln w="12700">
            <a:solidFill>
              <a:srgbClr val="FBEED6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11518106" y="8741420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ja-JP" sz="1950" dirty="0"/>
          </a:p>
        </p:txBody>
      </p:sp>
      <p:sp>
        <p:nvSpPr>
          <p:cNvPr id="54" name="Text 44"/>
          <p:cNvSpPr/>
          <p:nvPr/>
        </p:nvSpPr>
        <p:spPr>
          <a:xfrm>
            <a:off x="12051506" y="8722370"/>
            <a:ext cx="2340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選ぶ・伝える</a:t>
            </a:r>
            <a:endParaRPr lang="ja-JP" sz="1500" dirty="0"/>
          </a:p>
        </p:txBody>
      </p:sp>
      <p:sp>
        <p:nvSpPr>
          <p:cNvPr id="55" name="Text 45"/>
          <p:cNvSpPr/>
          <p:nvPr/>
        </p:nvSpPr>
        <p:spPr>
          <a:xfrm>
            <a:off x="12051506" y="8989070"/>
            <a:ext cx="2340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マッチング・VOCA・文字</a:t>
            </a:r>
            <a:endParaRPr lang="ja-JP" sz="1125" dirty="0"/>
          </a:p>
        </p:txBody>
      </p:sp>
      <p:sp>
        <p:nvSpPr>
          <p:cNvPr id="56" name="Text 46"/>
          <p:cNvSpPr/>
          <p:nvPr/>
        </p:nvSpPr>
        <p:spPr>
          <a:xfrm>
            <a:off x="609600" y="9484370"/>
            <a:ext cx="13896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利用者の画面と支援者の画面を分け、iPad の Switch Control・アクセスガイド（Guided Access）と一緒に使う前提で設計しています。記録は評価の材料であり、診断結果ではありません。</a:t>
            </a:r>
            <a:endParaRPr lang="ja-JP" sz="1275" dirty="0"/>
          </a:p>
        </p:txBody>
      </p:sp>
      <p:sp>
        <p:nvSpPr>
          <p:cNvPr id="57" name="Shape 47"/>
          <p:cNvSpPr/>
          <p:nvPr/>
        </p:nvSpPr>
        <p:spPr>
          <a:xfrm>
            <a:off x="609600" y="9906000"/>
            <a:ext cx="13896975" cy="19050"/>
          </a:xfrm>
          <a:prstGeom prst="rect">
            <a:avLst/>
          </a:prstGeom>
          <a:solidFill>
            <a:srgbClr val="D5DFDC"/>
          </a:solidFill>
          <a:ln w="12700">
            <a:solidFill>
              <a:srgbClr val="D5DFDC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609600" y="1000125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</a:t>
            </a:r>
            <a:endParaRPr lang="ja-JP" sz="1125" dirty="0"/>
          </a:p>
        </p:txBody>
      </p:sp>
      <p:sp>
        <p:nvSpPr>
          <p:cNvPr id="59" name="Text 49"/>
          <p:cNvSpPr/>
          <p:nvPr/>
        </p:nvSpPr>
        <p:spPr>
          <a:xfrm>
            <a:off x="12982575" y="100012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/ 3</a:t>
            </a:r>
            <a:endParaRPr lang="ja-JP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57200"/>
            <a:ext cx="95250" cy="1365885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3450" y="457200"/>
            <a:ext cx="1143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5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 ｜ 訓練アプリの内容</a:t>
            </a:r>
            <a:endParaRPr lang="ja-JP" sz="1350" dirty="0"/>
          </a:p>
        </p:txBody>
      </p:sp>
      <p:sp>
        <p:nvSpPr>
          <p:cNvPr id="4" name="Text 2"/>
          <p:cNvSpPr/>
          <p:nvPr/>
        </p:nvSpPr>
        <p:spPr>
          <a:xfrm>
            <a:off x="933450" y="762000"/>
            <a:ext cx="13525500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2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画面全体が、ひとつのスイッチ</a:t>
            </a:r>
            <a:endParaRPr lang="ja-JP" sz="4200" dirty="0"/>
          </a:p>
        </p:txBody>
      </p:sp>
      <p:sp>
        <p:nvSpPr>
          <p:cNvPr id="5" name="Text 3"/>
          <p:cNvSpPr/>
          <p:nvPr/>
        </p:nvSpPr>
        <p:spPr>
          <a:xfrm>
            <a:off x="933450" y="1451610"/>
            <a:ext cx="13525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ホームでは項目が順番に光り、押すと決定。課題中は画面のどこを押しても入力になります。</a:t>
            </a:r>
            <a:endParaRPr lang="ja-JP" sz="1650" dirty="0"/>
          </a:p>
        </p:txBody>
      </p:sp>
      <p:sp>
        <p:nvSpPr>
          <p:cNvPr id="6" name="Shape 4"/>
          <p:cNvSpPr/>
          <p:nvPr/>
        </p:nvSpPr>
        <p:spPr>
          <a:xfrm>
            <a:off x="609600" y="1914525"/>
            <a:ext cx="13896975" cy="2828925"/>
          </a:xfrm>
          <a:prstGeom prst="roundRect">
            <a:avLst>
              <a:gd name="adj" fmla="val 6734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208597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体験のながれ</a:t>
            </a:r>
            <a:endParaRPr lang="ja-JP" sz="1800" dirty="0"/>
          </a:p>
        </p:txBody>
      </p:sp>
      <p:sp>
        <p:nvSpPr>
          <p:cNvPr id="8" name="Text 6"/>
          <p:cNvSpPr/>
          <p:nvPr/>
        </p:nvSpPr>
        <p:spPr>
          <a:xfrm>
            <a:off x="2781300" y="21050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約2分。ぜひ一度押してみてください</a:t>
            </a:r>
            <a:endParaRPr lang="ja-JP" sz="1275" dirty="0"/>
          </a:p>
        </p:txBody>
      </p:sp>
      <p:pic>
        <p:nvPicPr>
          <p:cNvPr id="9" name="Image 0" descr="C:\Users\otyag\Documents\NURO\_deck_build\exhibit-panel-2026-08-30\canvas\captures-raw\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200" y="2505075"/>
            <a:ext cx="2988469" cy="168101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38200" y="2505075"/>
            <a:ext cx="2988469" cy="1681014"/>
          </a:xfrm>
          <a:prstGeom prst="roundRect">
            <a:avLst>
              <a:gd name="adj" fmla="val 5666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200" y="4262289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sz="1650" dirty="0"/>
          </a:p>
        </p:txBody>
      </p:sp>
      <p:sp>
        <p:nvSpPr>
          <p:cNvPr id="12" name="Text 9"/>
          <p:cNvSpPr/>
          <p:nvPr/>
        </p:nvSpPr>
        <p:spPr>
          <a:xfrm>
            <a:off x="1123950" y="4262289"/>
            <a:ext cx="27027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スタート</a:t>
            </a:r>
            <a:pPr indent="0" marL="0">
              <a:buNone/>
            </a:pPr>
            <a:r>
              <a:rPr lang="ja-JP" altLang="en-US" sz="1275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で1回押す</a:t>
            </a:r>
            <a:endParaRPr lang="ja-JP" sz="1275" dirty="0"/>
          </a:p>
        </p:txBody>
      </p:sp>
      <p:sp>
        <p:nvSpPr>
          <p:cNvPr id="13" name="Shape 10"/>
          <p:cNvSpPr/>
          <p:nvPr/>
        </p:nvSpPr>
        <p:spPr>
          <a:xfrm>
            <a:off x="3960019" y="3345582"/>
            <a:ext cx="228600" cy="0"/>
          </a:xfrm>
          <a:prstGeom prst="line">
            <a:avLst/>
          </a:prstGeom>
          <a:noFill/>
          <a:ln w="31750">
            <a:solidFill>
              <a:srgbClr val="8A5A12"/>
            </a:solidFill>
            <a:prstDash val="solid"/>
            <a:tailEnd type="triangle"/>
          </a:ln>
        </p:spPr>
      </p:sp>
      <p:pic>
        <p:nvPicPr>
          <p:cNvPr id="14" name="Image 1" descr="C:\Users\otyag\Documents\NURO\_deck_build\exhibit-panel-2026-08-30\canvas\captures-raw\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21969" y="2505075"/>
            <a:ext cx="2988469" cy="168101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21969" y="2505075"/>
            <a:ext cx="2988469" cy="1681014"/>
          </a:xfrm>
          <a:prstGeom prst="roundRect">
            <a:avLst>
              <a:gd name="adj" fmla="val 5666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21969" y="4262289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sz="1650" dirty="0"/>
          </a:p>
        </p:txBody>
      </p:sp>
      <p:sp>
        <p:nvSpPr>
          <p:cNvPr id="17" name="Text 13"/>
          <p:cNvSpPr/>
          <p:nvPr/>
        </p:nvSpPr>
        <p:spPr>
          <a:xfrm>
            <a:off x="4607719" y="4262289"/>
            <a:ext cx="27027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ホーム</a:t>
            </a:r>
            <a:pPr indent="0" marL="0">
              <a:buNone/>
            </a:pPr>
            <a:r>
              <a:rPr lang="ja-JP" altLang="en-US" sz="1275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で光った項目を押して決める</a:t>
            </a:r>
            <a:endParaRPr lang="ja-JP" sz="1275" dirty="0"/>
          </a:p>
        </p:txBody>
      </p:sp>
      <p:sp>
        <p:nvSpPr>
          <p:cNvPr id="18" name="Shape 14"/>
          <p:cNvSpPr/>
          <p:nvPr/>
        </p:nvSpPr>
        <p:spPr>
          <a:xfrm>
            <a:off x="7443788" y="3345582"/>
            <a:ext cx="228600" cy="0"/>
          </a:xfrm>
          <a:prstGeom prst="line">
            <a:avLst/>
          </a:prstGeom>
          <a:noFill/>
          <a:ln w="31750">
            <a:solidFill>
              <a:srgbClr val="8A5A12"/>
            </a:solidFill>
            <a:prstDash val="solid"/>
            <a:tailEnd type="triangle"/>
          </a:ln>
        </p:spPr>
      </p:sp>
      <p:pic>
        <p:nvPicPr>
          <p:cNvPr id="19" name="Image 2" descr="C:\Users\otyag\Documents\NURO\_deck_build\exhibit-panel-2026-08-30\canvas\captures-raw\game-slot-l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05738" y="2505075"/>
            <a:ext cx="2988469" cy="168101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805738" y="2505075"/>
            <a:ext cx="2988469" cy="1681014"/>
          </a:xfrm>
          <a:prstGeom prst="roundRect">
            <a:avLst>
              <a:gd name="adj" fmla="val 5666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05738" y="4262289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sz="1650" dirty="0"/>
          </a:p>
        </p:txBody>
      </p:sp>
      <p:sp>
        <p:nvSpPr>
          <p:cNvPr id="22" name="Text 17"/>
          <p:cNvSpPr/>
          <p:nvPr/>
        </p:nvSpPr>
        <p:spPr>
          <a:xfrm>
            <a:off x="8091488" y="4262289"/>
            <a:ext cx="27027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課題</a:t>
            </a:r>
            <a:pPr indent="0" marL="0">
              <a:buNone/>
            </a:pPr>
            <a:r>
              <a:rPr lang="ja-JP" altLang="en-US" sz="1275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：真ん中で止める（約1分）</a:t>
            </a:r>
            <a:endParaRPr lang="ja-JP" sz="1275" dirty="0"/>
          </a:p>
        </p:txBody>
      </p:sp>
      <p:sp>
        <p:nvSpPr>
          <p:cNvPr id="23" name="Shape 18"/>
          <p:cNvSpPr/>
          <p:nvPr/>
        </p:nvSpPr>
        <p:spPr>
          <a:xfrm>
            <a:off x="10927556" y="3345582"/>
            <a:ext cx="228600" cy="0"/>
          </a:xfrm>
          <a:prstGeom prst="line">
            <a:avLst/>
          </a:prstGeom>
          <a:noFill/>
          <a:ln w="31750">
            <a:solidFill>
              <a:srgbClr val="8A5A12"/>
            </a:solidFill>
            <a:prstDash val="solid"/>
            <a:tailEnd type="triangle"/>
          </a:ln>
        </p:spPr>
      </p:sp>
      <p:pic>
        <p:nvPicPr>
          <p:cNvPr id="24" name="Image 3" descr="C:\Users\otyag\Documents\NURO\_deck_build\exhibit-panel-2026-08-30\canvas\captures-raw\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289506" y="2505075"/>
            <a:ext cx="2988469" cy="168101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1289506" y="2505075"/>
            <a:ext cx="2988469" cy="1681014"/>
          </a:xfrm>
          <a:prstGeom prst="roundRect">
            <a:avLst>
              <a:gd name="adj" fmla="val 5666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1289506" y="4262289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5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ja-JP" sz="1650" dirty="0"/>
          </a:p>
        </p:txBody>
      </p:sp>
      <p:sp>
        <p:nvSpPr>
          <p:cNvPr id="27" name="Text 21"/>
          <p:cNvSpPr/>
          <p:nvPr/>
        </p:nvSpPr>
        <p:spPr>
          <a:xfrm>
            <a:off x="11575256" y="4262289"/>
            <a:ext cx="27027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けっか</a:t>
            </a:r>
            <a:pPr indent="0" marL="0">
              <a:buNone/>
            </a:pPr>
            <a:r>
              <a:rPr lang="ja-JP" altLang="en-US" sz="1275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：合った割合・ずれ・早め遅め</a:t>
            </a:r>
            <a:endParaRPr lang="ja-JP" sz="1275" dirty="0"/>
          </a:p>
        </p:txBody>
      </p:sp>
      <p:sp>
        <p:nvSpPr>
          <p:cNvPr id="28" name="Text 22"/>
          <p:cNvSpPr/>
          <p:nvPr/>
        </p:nvSpPr>
        <p:spPr>
          <a:xfrm>
            <a:off x="609600" y="493395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あそび・課題</a:t>
            </a:r>
            <a:endParaRPr lang="ja-JP" sz="1800" dirty="0"/>
          </a:p>
        </p:txBody>
      </p:sp>
      <p:sp>
        <p:nvSpPr>
          <p:cNvPr id="29" name="Text 23"/>
          <p:cNvSpPr/>
          <p:nvPr/>
        </p:nvSpPr>
        <p:spPr>
          <a:xfrm>
            <a:off x="2362200" y="49530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7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どれも同じ「1回の入力」で遊べます</a:t>
            </a:r>
            <a:endParaRPr lang="ja-JP" sz="1275" dirty="0"/>
          </a:p>
        </p:txBody>
      </p:sp>
      <p:pic>
        <p:nvPicPr>
          <p:cNvPr id="30" name="Image 4" descr="C:\Users\otyag\Documents\NURO\_deck_build\exhibit-panel-2026-08-30\canvas\captures-raw\game-color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600" y="5353050"/>
            <a:ext cx="2650331" cy="149081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09600" y="5353050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9600" y="6939111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09600" y="6939111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L0</a:t>
            </a:r>
            <a:endParaRPr lang="ja-JP" sz="1050" dirty="0"/>
          </a:p>
        </p:txBody>
      </p:sp>
      <p:sp>
        <p:nvSpPr>
          <p:cNvPr id="34" name="Text 27"/>
          <p:cNvSpPr/>
          <p:nvPr/>
        </p:nvSpPr>
        <p:spPr>
          <a:xfrm>
            <a:off x="1238250" y="6920061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いろと おと</a:t>
            </a:r>
            <a:endParaRPr lang="ja-JP" sz="1500" dirty="0"/>
          </a:p>
        </p:txBody>
      </p:sp>
      <p:sp>
        <p:nvSpPr>
          <p:cNvPr id="35" name="Text 28"/>
          <p:cNvSpPr/>
          <p:nvPr/>
        </p:nvSpPr>
        <p:spPr>
          <a:xfrm>
            <a:off x="609600" y="7262961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押すたびに色と音が変わる</a:t>
            </a:r>
            <a:endParaRPr lang="ja-JP" sz="1125" dirty="0"/>
          </a:p>
        </p:txBody>
      </p:sp>
      <p:pic>
        <p:nvPicPr>
          <p:cNvPr id="36" name="Image 5" descr="C:\Users\otyag\Documents\NURO\_deck_build\exhibit-panel-2026-08-30\canvas\captures-raw\game-slot-l1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93281" y="5353050"/>
            <a:ext cx="2650331" cy="1490811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3393281" y="5353050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393281" y="6939111"/>
            <a:ext cx="742950" cy="247650"/>
          </a:xfrm>
          <a:prstGeom prst="roundRect">
            <a:avLst>
              <a:gd name="adj" fmla="val 50000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393281" y="6939111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L1・L2</a:t>
            </a:r>
            <a:endParaRPr lang="ja-JP" sz="1050" dirty="0"/>
          </a:p>
        </p:txBody>
      </p:sp>
      <p:sp>
        <p:nvSpPr>
          <p:cNvPr id="40" name="Text 32"/>
          <p:cNvSpPr/>
          <p:nvPr/>
        </p:nvSpPr>
        <p:spPr>
          <a:xfrm>
            <a:off x="4231481" y="6920061"/>
            <a:ext cx="18121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リールを 止める</a:t>
            </a:r>
            <a:endParaRPr lang="ja-JP" sz="1500" dirty="0"/>
          </a:p>
        </p:txBody>
      </p:sp>
      <p:sp>
        <p:nvSpPr>
          <p:cNvPr id="41" name="Text 33"/>
          <p:cNvSpPr/>
          <p:nvPr/>
        </p:nvSpPr>
        <p:spPr>
          <a:xfrm>
            <a:off x="3393281" y="7262961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ひとつ／3つ。タイミングと順番</a:t>
            </a:r>
            <a:endParaRPr lang="ja-JP" sz="1125" dirty="0"/>
          </a:p>
        </p:txBody>
      </p:sp>
      <p:pic>
        <p:nvPicPr>
          <p:cNvPr id="42" name="Image 6" descr="C:\Users\otyag\Documents\NURO\_deck_build\exhibit-panel-2026-08-30\canvas\captures-raw\game-gonogo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76963" y="5353050"/>
            <a:ext cx="2650331" cy="1490811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6176963" y="5353050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176963" y="6939111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176963" y="6939111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聴覚</a:t>
            </a:r>
            <a:endParaRPr lang="ja-JP" sz="1050" dirty="0"/>
          </a:p>
        </p:txBody>
      </p:sp>
      <p:sp>
        <p:nvSpPr>
          <p:cNvPr id="46" name="Text 37"/>
          <p:cNvSpPr/>
          <p:nvPr/>
        </p:nvSpPr>
        <p:spPr>
          <a:xfrm>
            <a:off x="6805613" y="6920061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たかいおとだけ</a:t>
            </a:r>
            <a:endParaRPr lang="ja-JP" sz="1500" dirty="0"/>
          </a:p>
        </p:txBody>
      </p:sp>
      <p:sp>
        <p:nvSpPr>
          <p:cNvPr id="47" name="Text 38"/>
          <p:cNvSpPr/>
          <p:nvPr/>
        </p:nvSpPr>
        <p:spPr>
          <a:xfrm>
            <a:off x="6176963" y="7262961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高い音のときだけ押し、低い音は見送る</a:t>
            </a:r>
            <a:endParaRPr lang="ja-JP" sz="1125" dirty="0"/>
          </a:p>
        </p:txBody>
      </p:sp>
      <p:pic>
        <p:nvPicPr>
          <p:cNvPr id="48" name="Image 7" descr="C:\Users\otyag\Documents\NURO\_deck_build\exhibit-panel-2026-08-30\canvas\captures-raw\game-crane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960644" y="5353050"/>
            <a:ext cx="2650331" cy="1490811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8960644" y="5353050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8960644" y="6939111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8960644" y="6939111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走査</a:t>
            </a:r>
            <a:endParaRPr lang="ja-JP" sz="1050" dirty="0"/>
          </a:p>
        </p:txBody>
      </p:sp>
      <p:sp>
        <p:nvSpPr>
          <p:cNvPr id="52" name="Text 42"/>
          <p:cNvSpPr/>
          <p:nvPr/>
        </p:nvSpPr>
        <p:spPr>
          <a:xfrm>
            <a:off x="9589294" y="6920061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アームを とめる</a:t>
            </a:r>
            <a:endParaRPr lang="ja-JP" sz="1500" dirty="0"/>
          </a:p>
        </p:txBody>
      </p:sp>
      <p:sp>
        <p:nvSpPr>
          <p:cNvPr id="53" name="Text 43"/>
          <p:cNvSpPr/>
          <p:nvPr/>
        </p:nvSpPr>
        <p:spPr>
          <a:xfrm>
            <a:off x="8960644" y="7262961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横→奥の順に止めて位置を決める</a:t>
            </a:r>
            <a:endParaRPr lang="ja-JP" sz="1125" dirty="0"/>
          </a:p>
        </p:txBody>
      </p:sp>
      <p:pic>
        <p:nvPicPr>
          <p:cNvPr id="54" name="Image 8" descr="C:\Users\otyag\Documents\NURO\_deck_build\exhibit-panel-2026-08-30\canvas\captures-raw\game-fishing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9600" y="7624911"/>
            <a:ext cx="2650331" cy="1490811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609600" y="7624911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609600" y="9210973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E2F0ED"/>
          </a:solidFill>
          <a:ln w="12700">
            <a:solidFill>
              <a:srgbClr val="E2F0ED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609600" y="9210973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反応</a:t>
            </a:r>
            <a:endParaRPr lang="ja-JP" sz="1050" dirty="0"/>
          </a:p>
        </p:txBody>
      </p:sp>
      <p:sp>
        <p:nvSpPr>
          <p:cNvPr id="58" name="Text 47"/>
          <p:cNvSpPr/>
          <p:nvPr/>
        </p:nvSpPr>
        <p:spPr>
          <a:xfrm>
            <a:off x="1238250" y="9191923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さかなつり</a:t>
            </a:r>
            <a:endParaRPr lang="ja-JP" sz="1500" dirty="0"/>
          </a:p>
        </p:txBody>
      </p:sp>
      <p:sp>
        <p:nvSpPr>
          <p:cNvPr id="59" name="Text 48"/>
          <p:cNvSpPr/>
          <p:nvPr/>
        </p:nvSpPr>
        <p:spPr>
          <a:xfrm>
            <a:off x="609600" y="9534823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アタリに素早く反応し、偽アタリは見送る</a:t>
            </a:r>
            <a:endParaRPr lang="ja-JP" sz="1125" dirty="0"/>
          </a:p>
        </p:txBody>
      </p:sp>
      <p:pic>
        <p:nvPicPr>
          <p:cNvPr id="60" name="Image 9" descr="C:\Users\otyag\Documents\NURO\_deck_build\exhibit-panel-2026-08-30\canvas\captures-raw\learning-matchi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393281" y="7624911"/>
            <a:ext cx="2650331" cy="1490811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3393281" y="7624911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3393281" y="9210973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3393281" y="9210973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</a:t>
            </a:r>
            <a:endParaRPr lang="ja-JP" sz="1050" dirty="0"/>
          </a:p>
        </p:txBody>
      </p:sp>
      <p:sp>
        <p:nvSpPr>
          <p:cNvPr id="64" name="Text 52"/>
          <p:cNvSpPr/>
          <p:nvPr/>
        </p:nvSpPr>
        <p:spPr>
          <a:xfrm>
            <a:off x="4021931" y="9191923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マッチング</a:t>
            </a:r>
            <a:endParaRPr lang="ja-JP" sz="1500" dirty="0"/>
          </a:p>
        </p:txBody>
      </p:sp>
      <p:sp>
        <p:nvSpPr>
          <p:cNvPr id="65" name="Text 53"/>
          <p:cNvSpPr/>
          <p:nvPr/>
        </p:nvSpPr>
        <p:spPr>
          <a:xfrm>
            <a:off x="3393281" y="9534823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お題に合うものを選ぶ</a:t>
            </a:r>
            <a:endParaRPr lang="ja-JP" sz="1125" dirty="0"/>
          </a:p>
        </p:txBody>
      </p:sp>
      <p:pic>
        <p:nvPicPr>
          <p:cNvPr id="66" name="Image 10" descr="C:\Users\otyag\Documents\NURO\_deck_build\exhibit-panel-2026-08-30\canvas\captures-raw\learning-voca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176963" y="7624911"/>
            <a:ext cx="2650331" cy="1490811"/>
          </a:xfrm>
          <a:prstGeom prst="rect">
            <a:avLst/>
          </a:prstGeom>
        </p:spPr>
      </p:pic>
      <p:sp>
        <p:nvSpPr>
          <p:cNvPr id="67" name="Shape 54"/>
          <p:cNvSpPr/>
          <p:nvPr/>
        </p:nvSpPr>
        <p:spPr>
          <a:xfrm>
            <a:off x="6176963" y="7624911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6176963" y="9210973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6176963" y="9210973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</a:t>
            </a:r>
            <a:endParaRPr lang="ja-JP" sz="1050" dirty="0"/>
          </a:p>
        </p:txBody>
      </p:sp>
      <p:sp>
        <p:nvSpPr>
          <p:cNvPr id="70" name="Text 57"/>
          <p:cNvSpPr/>
          <p:nvPr/>
        </p:nvSpPr>
        <p:spPr>
          <a:xfrm>
            <a:off x="6805613" y="9191923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VOCA</a:t>
            </a:r>
            <a:endParaRPr lang="ja-JP" sz="1500" dirty="0"/>
          </a:p>
        </p:txBody>
      </p:sp>
      <p:sp>
        <p:nvSpPr>
          <p:cNvPr id="71" name="Text 58"/>
          <p:cNvSpPr/>
          <p:nvPr/>
        </p:nvSpPr>
        <p:spPr>
          <a:xfrm>
            <a:off x="6176963" y="9534823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ことばを選んで伝える</a:t>
            </a:r>
            <a:endParaRPr lang="ja-JP" sz="1125" dirty="0"/>
          </a:p>
        </p:txBody>
      </p:sp>
      <p:pic>
        <p:nvPicPr>
          <p:cNvPr id="72" name="Image 11" descr="C:\Users\otyag\Documents\NURO\_deck_build\exhibit-panel-2026-08-30\canvas\captures-raw\learning-letters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960644" y="7624911"/>
            <a:ext cx="2650331" cy="1490811"/>
          </a:xfrm>
          <a:prstGeom prst="rect">
            <a:avLst/>
          </a:prstGeom>
        </p:spPr>
      </p:pic>
      <p:sp>
        <p:nvSpPr>
          <p:cNvPr id="73" name="Shape 59"/>
          <p:cNvSpPr/>
          <p:nvPr/>
        </p:nvSpPr>
        <p:spPr>
          <a:xfrm>
            <a:off x="8960644" y="7624911"/>
            <a:ext cx="2650331" cy="1490811"/>
          </a:xfrm>
          <a:prstGeom prst="roundRect">
            <a:avLst>
              <a:gd name="adj" fmla="val 6389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74" name="Shape 60"/>
          <p:cNvSpPr/>
          <p:nvPr/>
        </p:nvSpPr>
        <p:spPr>
          <a:xfrm>
            <a:off x="8960644" y="9210973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BEED6"/>
          </a:solidFill>
          <a:ln w="12700">
            <a:solidFill>
              <a:srgbClr val="FBEED6"/>
            </a:solidFill>
            <a:prstDash val="solid"/>
          </a:ln>
        </p:spPr>
      </p:sp>
      <p:sp>
        <p:nvSpPr>
          <p:cNvPr id="75" name="Text 61"/>
          <p:cNvSpPr/>
          <p:nvPr/>
        </p:nvSpPr>
        <p:spPr>
          <a:xfrm>
            <a:off x="8960644" y="9210973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</a:t>
            </a:r>
            <a:endParaRPr lang="ja-JP" sz="1050" dirty="0"/>
          </a:p>
        </p:txBody>
      </p:sp>
      <p:sp>
        <p:nvSpPr>
          <p:cNvPr id="76" name="Text 62"/>
          <p:cNvSpPr/>
          <p:nvPr/>
        </p:nvSpPr>
        <p:spPr>
          <a:xfrm>
            <a:off x="9589294" y="9191923"/>
            <a:ext cx="20216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文字学習</a:t>
            </a:r>
            <a:endParaRPr lang="ja-JP" sz="1500" dirty="0"/>
          </a:p>
        </p:txBody>
      </p:sp>
      <p:sp>
        <p:nvSpPr>
          <p:cNvPr id="77" name="Text 63"/>
          <p:cNvSpPr/>
          <p:nvPr/>
        </p:nvSpPr>
        <p:spPr>
          <a:xfrm>
            <a:off x="8960644" y="9534823"/>
            <a:ext cx="2650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文字を読んで選ぶ</a:t>
            </a:r>
            <a:endParaRPr lang="ja-JP" sz="1125" dirty="0"/>
          </a:p>
        </p:txBody>
      </p:sp>
      <p:sp>
        <p:nvSpPr>
          <p:cNvPr id="78" name="Shape 64"/>
          <p:cNvSpPr/>
          <p:nvPr/>
        </p:nvSpPr>
        <p:spPr>
          <a:xfrm>
            <a:off x="11839575" y="4933950"/>
            <a:ext cx="2667000" cy="4829473"/>
          </a:xfrm>
          <a:prstGeom prst="roundRect">
            <a:avLst>
              <a:gd name="adj" fmla="val 5714"/>
            </a:avLst>
          </a:prstGeom>
          <a:solidFill>
            <a:srgbClr val="FBFAF7"/>
          </a:solidFill>
          <a:ln w="12700">
            <a:solidFill>
              <a:srgbClr val="FBFAF7"/>
            </a:solidFill>
            <a:prstDash val="solid"/>
          </a:ln>
        </p:spPr>
      </p:sp>
      <p:sp>
        <p:nvSpPr>
          <p:cNvPr id="79" name="Text 65"/>
          <p:cNvSpPr/>
          <p:nvPr/>
        </p:nvSpPr>
        <p:spPr>
          <a:xfrm>
            <a:off x="12030075" y="5105400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75" b="1" dirty="0">
                <a:solidFill>
                  <a:srgbClr val="0D535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支援者むけ</a:t>
            </a:r>
            <a:endParaRPr lang="ja-JP" sz="1575" dirty="0"/>
          </a:p>
        </p:txBody>
      </p:sp>
      <p:pic>
        <p:nvPicPr>
          <p:cNvPr id="80" name="Image 12" descr="C:\Users\otyag\Documents\NURO\_deck_build\exhibit-panel-2026-08-30\canvas\captures-raw\settings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030075" y="5467350"/>
            <a:ext cx="2286000" cy="1285875"/>
          </a:xfrm>
          <a:prstGeom prst="rect">
            <a:avLst/>
          </a:prstGeom>
        </p:spPr>
      </p:pic>
      <p:sp>
        <p:nvSpPr>
          <p:cNvPr id="81" name="Shape 66"/>
          <p:cNvSpPr/>
          <p:nvPr/>
        </p:nvSpPr>
        <p:spPr>
          <a:xfrm>
            <a:off x="12030075" y="5467350"/>
            <a:ext cx="2286000" cy="1285875"/>
          </a:xfrm>
          <a:prstGeom prst="roundRect">
            <a:avLst>
              <a:gd name="adj" fmla="val 7407"/>
            </a:avLst>
          </a:prstGeom>
          <a:ln w="12700">
            <a:solidFill>
              <a:srgbClr val="D5DFDC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12030075" y="6981825"/>
            <a:ext cx="76200" cy="76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3" name="Text 68"/>
          <p:cNvSpPr/>
          <p:nvPr/>
        </p:nvSpPr>
        <p:spPr>
          <a:xfrm>
            <a:off x="12182475" y="6905625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そくてい</a:t>
            </a:r>
            <a:pPr indent="0" marL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：固定条件で比較</a:t>
            </a:r>
            <a:endParaRPr lang="ja-JP" sz="1200" dirty="0"/>
          </a:p>
        </p:txBody>
      </p:sp>
      <p:sp>
        <p:nvSpPr>
          <p:cNvPr id="84" name="Shape 69"/>
          <p:cNvSpPr/>
          <p:nvPr/>
        </p:nvSpPr>
        <p:spPr>
          <a:xfrm>
            <a:off x="12030075" y="7419975"/>
            <a:ext cx="76200" cy="76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5" name="Text 70"/>
          <p:cNvSpPr/>
          <p:nvPr/>
        </p:nvSpPr>
        <p:spPr>
          <a:xfrm>
            <a:off x="12182475" y="7343775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b="1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れんしゅう</a:t>
            </a:r>
            <a:pPr indent="0" marL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：速さ・許容幅・回数を調整</a:t>
            </a:r>
            <a:endParaRPr lang="ja-JP" sz="1200" dirty="0"/>
          </a:p>
        </p:txBody>
      </p:sp>
      <p:sp>
        <p:nvSpPr>
          <p:cNvPr id="86" name="Shape 71"/>
          <p:cNvSpPr/>
          <p:nvPr/>
        </p:nvSpPr>
        <p:spPr>
          <a:xfrm>
            <a:off x="12030075" y="7858125"/>
            <a:ext cx="76200" cy="76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7" name="Text 72"/>
          <p:cNvSpPr/>
          <p:nvPr/>
        </p:nvSpPr>
        <p:spPr>
          <a:xfrm>
            <a:off x="12182475" y="7781925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1入力ごとの記録を CSV で出力</a:t>
            </a:r>
            <a:endParaRPr lang="ja-JP" sz="1200" dirty="0"/>
          </a:p>
        </p:txBody>
      </p:sp>
      <p:sp>
        <p:nvSpPr>
          <p:cNvPr id="88" name="Shape 73"/>
          <p:cNvSpPr/>
          <p:nvPr/>
        </p:nvSpPr>
        <p:spPr>
          <a:xfrm>
            <a:off x="12030075" y="8296275"/>
            <a:ext cx="76200" cy="76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9" name="Text 74"/>
          <p:cNvSpPr/>
          <p:nvPr/>
        </p:nvSpPr>
        <p:spPr>
          <a:xfrm>
            <a:off x="12182475" y="8220075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00" dirty="0">
                <a:solidFill>
                  <a:srgbClr val="102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 Switch Control と自動走査を切替</a:t>
            </a:r>
            <a:endParaRPr lang="ja-JP" sz="1200" dirty="0"/>
          </a:p>
        </p:txBody>
      </p:sp>
      <p:sp>
        <p:nvSpPr>
          <p:cNvPr id="90" name="Shape 75"/>
          <p:cNvSpPr/>
          <p:nvPr/>
        </p:nvSpPr>
        <p:spPr>
          <a:xfrm>
            <a:off x="609600" y="9982200"/>
            <a:ext cx="13896975" cy="19050"/>
          </a:xfrm>
          <a:prstGeom prst="rect">
            <a:avLst/>
          </a:prstGeom>
          <a:solidFill>
            <a:srgbClr val="D5DFDC"/>
          </a:solidFill>
          <a:ln w="12700">
            <a:solidFill>
              <a:srgbClr val="D5DFDC"/>
            </a:solidFill>
            <a:prstDash val="solid"/>
          </a:ln>
        </p:spPr>
      </p:sp>
      <p:sp>
        <p:nvSpPr>
          <p:cNvPr id="91" name="Text 76"/>
          <p:cNvSpPr/>
          <p:nvPr/>
        </p:nvSpPr>
        <p:spPr>
          <a:xfrm>
            <a:off x="609600" y="1007745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</a:t>
            </a:r>
            <a:endParaRPr lang="ja-JP" sz="1125" dirty="0"/>
          </a:p>
        </p:txBody>
      </p:sp>
      <p:sp>
        <p:nvSpPr>
          <p:cNvPr id="92" name="Text 77"/>
          <p:cNvSpPr/>
          <p:nvPr/>
        </p:nvSpPr>
        <p:spPr>
          <a:xfrm>
            <a:off x="12982575" y="100774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1125" dirty="0">
                <a:solidFill>
                  <a:srgbClr val="52696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 / 3</a:t>
            </a:r>
            <a:endParaRPr lang="ja-JP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NeuroNode 訓練アプリ 展示パネル 2026-08-30（v002）</dc:title>
  <dc:subject>PptxGenJS Presentation</dc:subject>
  <dc:creator>NeuroNode 訓練アプリ プロジェクト</dc:creator>
  <cp:lastModifiedBy>NeuroNode 訓練アプリ プロジェクト</cp:lastModifiedBy>
  <cp:revision>1</cp:revision>
  <dcterms:created xsi:type="dcterms:W3CDTF">2026-08-27T02:36:11Z</dcterms:created>
  <dcterms:modified xsi:type="dcterms:W3CDTF">2026-08-27T02:36:11Z</dcterms:modified>
</cp:coreProperties>
</file>